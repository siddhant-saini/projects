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handoutMasterIdLst>
    <p:handoutMasterId r:id="rId24"/>
  </p:handoutMasterIdLst>
  <p:sldIdLst>
    <p:sldId id="275" r:id="rId5"/>
    <p:sldId id="263" r:id="rId6"/>
    <p:sldId id="276" r:id="rId7"/>
    <p:sldId id="277" r:id="rId8"/>
    <p:sldId id="278" r:id="rId9"/>
    <p:sldId id="279" r:id="rId10"/>
    <p:sldId id="271" r:id="rId11"/>
    <p:sldId id="280" r:id="rId12"/>
    <p:sldId id="264" r:id="rId13"/>
    <p:sldId id="265" r:id="rId14"/>
    <p:sldId id="266" r:id="rId15"/>
    <p:sldId id="267" r:id="rId16"/>
    <p:sldId id="268" r:id="rId17"/>
    <p:sldId id="269" r:id="rId18"/>
    <p:sldId id="270" r:id="rId19"/>
    <p:sldId id="272" r:id="rId20"/>
    <p:sldId id="274" r:id="rId21"/>
    <p:sldId id="273" r:id="rId22"/>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06B35F-7FF8-4FD2-A6C5-DE0CA06A3C39}" v="28" dt="2023-11-19T22:51:46.5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90" d="100"/>
          <a:sy n="90" d="100"/>
        </p:scale>
        <p:origin x="219" y="199"/>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lhaina666@gmail.com" userId="b744353a6c35dcdd" providerId="LiveId" clId="{2006B35F-7FF8-4FD2-A6C5-DE0CA06A3C39}"/>
    <pc:docChg chg="custSel addSld modSld">
      <pc:chgData name="coolhaina666@gmail.com" userId="b744353a6c35dcdd" providerId="LiveId" clId="{2006B35F-7FF8-4FD2-A6C5-DE0CA06A3C39}" dt="2023-11-19T22:51:59.037" v="76" actId="1076"/>
      <pc:docMkLst>
        <pc:docMk/>
      </pc:docMkLst>
      <pc:sldChg chg="modSp mod">
        <pc:chgData name="coolhaina666@gmail.com" userId="b744353a6c35dcdd" providerId="LiveId" clId="{2006B35F-7FF8-4FD2-A6C5-DE0CA06A3C39}" dt="2023-11-19T22:51:54.919" v="75" actId="1076"/>
        <pc:sldMkLst>
          <pc:docMk/>
          <pc:sldMk cId="683978758" sldId="260"/>
        </pc:sldMkLst>
        <pc:spChg chg="mod">
          <ac:chgData name="coolhaina666@gmail.com" userId="b744353a6c35dcdd" providerId="LiveId" clId="{2006B35F-7FF8-4FD2-A6C5-DE0CA06A3C39}" dt="2023-11-19T22:51:54.919" v="75" actId="1076"/>
          <ac:spMkLst>
            <pc:docMk/>
            <pc:sldMk cId="683978758" sldId="260"/>
            <ac:spMk id="4" creationId="{3452776A-FFD3-F71E-1742-378362EC1B98}"/>
          </ac:spMkLst>
        </pc:spChg>
      </pc:sldChg>
      <pc:sldChg chg="modSp mod">
        <pc:chgData name="coolhaina666@gmail.com" userId="b744353a6c35dcdd" providerId="LiveId" clId="{2006B35F-7FF8-4FD2-A6C5-DE0CA06A3C39}" dt="2023-11-19T22:51:59.037" v="76" actId="1076"/>
        <pc:sldMkLst>
          <pc:docMk/>
          <pc:sldMk cId="3442724537" sldId="261"/>
        </pc:sldMkLst>
        <pc:spChg chg="mod">
          <ac:chgData name="coolhaina666@gmail.com" userId="b744353a6c35dcdd" providerId="LiveId" clId="{2006B35F-7FF8-4FD2-A6C5-DE0CA06A3C39}" dt="2023-11-19T22:51:59.037" v="76" actId="1076"/>
          <ac:spMkLst>
            <pc:docMk/>
            <pc:sldMk cId="3442724537" sldId="261"/>
            <ac:spMk id="4" creationId="{0343ED96-2FBD-6C14-9D2B-35F8A3C6DF13}"/>
          </ac:spMkLst>
        </pc:spChg>
      </pc:sldChg>
      <pc:sldChg chg="addSp delSp modSp">
        <pc:chgData name="coolhaina666@gmail.com" userId="b744353a6c35dcdd" providerId="LiveId" clId="{2006B35F-7FF8-4FD2-A6C5-DE0CA06A3C39}" dt="2023-11-19T22:51:46.544" v="74" actId="21"/>
        <pc:sldMkLst>
          <pc:docMk/>
          <pc:sldMk cId="2099426324" sldId="263"/>
        </pc:sldMkLst>
        <pc:picChg chg="del mod">
          <ac:chgData name="coolhaina666@gmail.com" userId="b744353a6c35dcdd" providerId="LiveId" clId="{2006B35F-7FF8-4FD2-A6C5-DE0CA06A3C39}" dt="2023-11-19T22:51:46.544" v="74" actId="21"/>
          <ac:picMkLst>
            <pc:docMk/>
            <pc:sldMk cId="2099426324" sldId="263"/>
            <ac:picMk id="5122" creationId="{40228785-CFD1-E62A-DB68-5ED99D988CC6}"/>
          </ac:picMkLst>
        </pc:picChg>
        <pc:picChg chg="add mod">
          <ac:chgData name="coolhaina666@gmail.com" userId="b744353a6c35dcdd" providerId="LiveId" clId="{2006B35F-7FF8-4FD2-A6C5-DE0CA06A3C39}" dt="2023-11-19T22:51:42.801" v="72" actId="1076"/>
          <ac:picMkLst>
            <pc:docMk/>
            <pc:sldMk cId="2099426324" sldId="263"/>
            <ac:picMk id="5126" creationId="{C7951D5C-4A2B-9392-7401-620CCB599557}"/>
          </ac:picMkLst>
        </pc:picChg>
      </pc:sldChg>
      <pc:sldChg chg="addSp delSp modSp">
        <pc:chgData name="coolhaina666@gmail.com" userId="b744353a6c35dcdd" providerId="LiveId" clId="{2006B35F-7FF8-4FD2-A6C5-DE0CA06A3C39}" dt="2023-11-19T22:49:29.676" v="68" actId="1076"/>
        <pc:sldMkLst>
          <pc:docMk/>
          <pc:sldMk cId="2887082798" sldId="273"/>
        </pc:sldMkLst>
        <pc:picChg chg="del">
          <ac:chgData name="coolhaina666@gmail.com" userId="b744353a6c35dcdd" providerId="LiveId" clId="{2006B35F-7FF8-4FD2-A6C5-DE0CA06A3C39}" dt="2023-11-19T22:47:51.466" v="48" actId="21"/>
          <ac:picMkLst>
            <pc:docMk/>
            <pc:sldMk cId="2887082798" sldId="273"/>
            <ac:picMk id="14338" creationId="{A1C71D94-863B-296F-405A-70C345E18C16}"/>
          </ac:picMkLst>
        </pc:picChg>
        <pc:picChg chg="mod">
          <ac:chgData name="coolhaina666@gmail.com" userId="b744353a6c35dcdd" providerId="LiveId" clId="{2006B35F-7FF8-4FD2-A6C5-DE0CA06A3C39}" dt="2023-11-19T22:49:22.897" v="66" actId="1076"/>
          <ac:picMkLst>
            <pc:docMk/>
            <pc:sldMk cId="2887082798" sldId="273"/>
            <ac:picMk id="14340" creationId="{0C27C982-A913-B14E-2CE4-1D8504331CAA}"/>
          </ac:picMkLst>
        </pc:picChg>
        <pc:picChg chg="mod">
          <ac:chgData name="coolhaina666@gmail.com" userId="b744353a6c35dcdd" providerId="LiveId" clId="{2006B35F-7FF8-4FD2-A6C5-DE0CA06A3C39}" dt="2023-11-19T22:49:29.676" v="68" actId="1076"/>
          <ac:picMkLst>
            <pc:docMk/>
            <pc:sldMk cId="2887082798" sldId="273"/>
            <ac:picMk id="14342" creationId="{383085AA-7FF1-58D1-4A46-107A360A14E2}"/>
          </ac:picMkLst>
        </pc:picChg>
        <pc:picChg chg="mod">
          <ac:chgData name="coolhaina666@gmail.com" userId="b744353a6c35dcdd" providerId="LiveId" clId="{2006B35F-7FF8-4FD2-A6C5-DE0CA06A3C39}" dt="2023-11-19T22:49:13.826" v="61" actId="1076"/>
          <ac:picMkLst>
            <pc:docMk/>
            <pc:sldMk cId="2887082798" sldId="273"/>
            <ac:picMk id="14348" creationId="{AEFC4939-42DC-8E26-2195-9AC2C2FC84FC}"/>
          </ac:picMkLst>
        </pc:picChg>
        <pc:picChg chg="add mod">
          <ac:chgData name="coolhaina666@gmail.com" userId="b744353a6c35dcdd" providerId="LiveId" clId="{2006B35F-7FF8-4FD2-A6C5-DE0CA06A3C39}" dt="2023-11-19T22:49:16.833" v="63" actId="1076"/>
          <ac:picMkLst>
            <pc:docMk/>
            <pc:sldMk cId="2887082798" sldId="273"/>
            <ac:picMk id="14350" creationId="{34E8CAA8-03FD-6172-40EA-A39CEFAC8994}"/>
          </ac:picMkLst>
        </pc:picChg>
      </pc:sldChg>
      <pc:sldChg chg="addSp delSp modSp new mod">
        <pc:chgData name="coolhaina666@gmail.com" userId="b744353a6c35dcdd" providerId="LiveId" clId="{2006B35F-7FF8-4FD2-A6C5-DE0CA06A3C39}" dt="2023-11-19T22:47:44.518" v="47" actId="26606"/>
        <pc:sldMkLst>
          <pc:docMk/>
          <pc:sldMk cId="1844135175" sldId="274"/>
        </pc:sldMkLst>
        <pc:spChg chg="mod">
          <ac:chgData name="coolhaina666@gmail.com" userId="b744353a6c35dcdd" providerId="LiveId" clId="{2006B35F-7FF8-4FD2-A6C5-DE0CA06A3C39}" dt="2023-11-19T22:47:44.518" v="47" actId="26606"/>
          <ac:spMkLst>
            <pc:docMk/>
            <pc:sldMk cId="1844135175" sldId="274"/>
            <ac:spMk id="2" creationId="{970A37EA-E424-9F74-D666-D86B1F8D194C}"/>
          </ac:spMkLst>
        </pc:spChg>
        <pc:spChg chg="mod ord">
          <ac:chgData name="coolhaina666@gmail.com" userId="b744353a6c35dcdd" providerId="LiveId" clId="{2006B35F-7FF8-4FD2-A6C5-DE0CA06A3C39}" dt="2023-11-19T22:47:44.518" v="47" actId="26606"/>
          <ac:spMkLst>
            <pc:docMk/>
            <pc:sldMk cId="1844135175" sldId="274"/>
            <ac:spMk id="3" creationId="{1B83046A-61F3-D62A-E333-917A4F7E58CC}"/>
          </ac:spMkLst>
        </pc:spChg>
        <pc:spChg chg="del">
          <ac:chgData name="coolhaina666@gmail.com" userId="b744353a6c35dcdd" providerId="LiveId" clId="{2006B35F-7FF8-4FD2-A6C5-DE0CA06A3C39}" dt="2023-11-19T22:46:35.788" v="36" actId="21"/>
          <ac:spMkLst>
            <pc:docMk/>
            <pc:sldMk cId="1844135175" sldId="274"/>
            <ac:spMk id="4" creationId="{6B72CEC4-D489-4764-6D7E-73F229CBF2B4}"/>
          </ac:spMkLst>
        </pc:spChg>
        <pc:picChg chg="add mod">
          <ac:chgData name="coolhaina666@gmail.com" userId="b744353a6c35dcdd" providerId="LiveId" clId="{2006B35F-7FF8-4FD2-A6C5-DE0CA06A3C39}" dt="2023-11-19T22:47:44.518" v="47" actId="26606"/>
          <ac:picMkLst>
            <pc:docMk/>
            <pc:sldMk cId="1844135175" sldId="274"/>
            <ac:picMk id="5" creationId="{F2D89857-39E5-0908-93E1-EA94A9C4DEA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9/27/2024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9/27/2024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9/27/2024</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9/27/2024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9/27/2024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9/27/2024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9/27/2024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9/27/2024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9/27/2024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9/27/2024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9/27/2024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9/27/2024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9/27/2024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9/27/2024</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09836" y="1701800"/>
            <a:ext cx="4371988" cy="2438400"/>
          </a:xfrm>
        </p:spPr>
        <p:txBody>
          <a:bodyPr anchor="b">
            <a:normAutofit fontScale="90000"/>
          </a:bodyPr>
          <a:lstStyle/>
          <a:p>
            <a:r>
              <a:rPr lang="en-US" sz="3600" b="1" dirty="0"/>
              <a:t>Medical chatbot using LLAMA2</a:t>
            </a:r>
            <a:br>
              <a:rPr lang="en-US" sz="3600" b="1" dirty="0"/>
            </a:br>
            <a:r>
              <a:rPr lang="en-US" sz="3600" b="1" dirty="0"/>
              <a:t>Transfer learning</a:t>
            </a:r>
            <a:br>
              <a:rPr lang="en-US" sz="3600" b="1" dirty="0"/>
            </a:br>
            <a:r>
              <a:rPr lang="en-US" sz="3600" b="1" u="sng" dirty="0"/>
              <a:t>chat-med</a:t>
            </a:r>
          </a:p>
        </p:txBody>
      </p:sp>
      <p:sp>
        <p:nvSpPr>
          <p:cNvPr id="14" name="Content Placeholder 13"/>
          <p:cNvSpPr>
            <a:spLocks noGrp="1"/>
          </p:cNvSpPr>
          <p:nvPr>
            <p:ph type="body" sz="half" idx="2"/>
          </p:nvPr>
        </p:nvSpPr>
        <p:spPr>
          <a:xfrm>
            <a:off x="1218882" y="4241800"/>
            <a:ext cx="4062942" cy="1930400"/>
          </a:xfrm>
        </p:spPr>
        <p:txBody>
          <a:bodyPr>
            <a:normAutofit/>
          </a:bodyPr>
          <a:lstStyle/>
          <a:p>
            <a:pPr marL="0" indent="0">
              <a:buNone/>
            </a:pPr>
            <a:r>
              <a:rPr lang="en-US" dirty="0"/>
              <a:t>-Siddhant Saini(210962160)</a:t>
            </a:r>
          </a:p>
          <a:p>
            <a:pPr marL="0" indent="0">
              <a:buNone/>
            </a:pPr>
            <a:br>
              <a:rPr lang="en-US" dirty="0"/>
            </a:br>
            <a:endParaRPr lang="en-US" dirty="0"/>
          </a:p>
        </p:txBody>
      </p:sp>
      <p:pic>
        <p:nvPicPr>
          <p:cNvPr id="4" name="Picture 2" descr="How Healthcare Chatbots Revolutionise Care Delivery: Benefits and  Implementation Strategies - Voiceoc">
            <a:extLst>
              <a:ext uri="{FF2B5EF4-FFF2-40B4-BE49-F238E27FC236}">
                <a16:creationId xmlns:a16="http://schemas.microsoft.com/office/drawing/2014/main" id="{B86D6967-9E7A-8A0D-B9A8-1BA8E93D9B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84971" y="1595584"/>
            <a:ext cx="6094413" cy="3565231"/>
          </a:xfrm>
          <a:prstGeom prst="rect">
            <a:avLst/>
          </a:prstGeom>
          <a:solidFill>
            <a:srgbClr val="FFFFFF"/>
          </a:solidFill>
        </p:spPr>
      </p:pic>
    </p:spTree>
    <p:extLst>
      <p:ext uri="{BB962C8B-B14F-4D97-AF65-F5344CB8AC3E}">
        <p14:creationId xmlns:p14="http://schemas.microsoft.com/office/powerpoint/2010/main" val="3877691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CB2278-5736-7F83-C584-263DE04A1FEE}"/>
              </a:ext>
            </a:extLst>
          </p:cNvPr>
          <p:cNvSpPr txBox="1"/>
          <p:nvPr/>
        </p:nvSpPr>
        <p:spPr>
          <a:xfrm>
            <a:off x="1557908" y="692696"/>
            <a:ext cx="9721080" cy="5201424"/>
          </a:xfrm>
          <a:prstGeom prst="rect">
            <a:avLst/>
          </a:prstGeom>
          <a:noFill/>
        </p:spPr>
        <p:txBody>
          <a:bodyPr wrap="square">
            <a:spAutoFit/>
          </a:bodyPr>
          <a:lstStyle/>
          <a:p>
            <a:r>
              <a:rPr lang="en-IN" sz="4000" b="1" dirty="0">
                <a:latin typeface="Arial Rounded MT Bold" panose="020F0502020204030204" pitchFamily="34" charset="0"/>
              </a:rPr>
              <a:t>Abstract</a:t>
            </a:r>
          </a:p>
          <a:p>
            <a:endParaRPr lang="en-IN" sz="4000" dirty="0">
              <a:latin typeface="Arial Rounded MT Bold" panose="020F0502020204030204" pitchFamily="34" charset="0"/>
            </a:endParaRPr>
          </a:p>
          <a:p>
            <a:r>
              <a:rPr lang="en-IN" sz="2800" dirty="0">
                <a:latin typeface="Arial Rounded MT Bold" panose="020F0502020204030204" pitchFamily="34" charset="0"/>
              </a:rPr>
              <a:t>Chat-Med is an innovative medical chatbot designed to deliver personalized and sophisticated medical consultation through natural language interaction. By harnessing transfer learning techniques and the state-of-the-art Llama 2 model, Chat-Med offers users access to reliable healthcare information. Trained on the extensive GALE ENCYCLOPEDIA of MEDICINE dataset, Chat-Med empowers individuals to make informed decisions about their health and well-being.</a:t>
            </a:r>
          </a:p>
        </p:txBody>
      </p:sp>
    </p:spTree>
    <p:extLst>
      <p:ext uri="{BB962C8B-B14F-4D97-AF65-F5344CB8AC3E}">
        <p14:creationId xmlns:p14="http://schemas.microsoft.com/office/powerpoint/2010/main" val="343350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1C228D-EAAB-5CB4-BE3F-5A06F45A8215}"/>
              </a:ext>
            </a:extLst>
          </p:cNvPr>
          <p:cNvSpPr txBox="1"/>
          <p:nvPr/>
        </p:nvSpPr>
        <p:spPr>
          <a:xfrm>
            <a:off x="1125860" y="764705"/>
            <a:ext cx="10009111" cy="4832092"/>
          </a:xfrm>
          <a:prstGeom prst="rect">
            <a:avLst/>
          </a:prstGeom>
          <a:noFill/>
        </p:spPr>
        <p:txBody>
          <a:bodyPr wrap="square">
            <a:spAutoFit/>
          </a:bodyPr>
          <a:lstStyle/>
          <a:p>
            <a:r>
              <a:rPr lang="en-IN" sz="4400" dirty="0">
                <a:latin typeface="Arial Rounded MT Bold" panose="020F0704030504030204" pitchFamily="34" charset="0"/>
              </a:rPr>
              <a:t>Introduction</a:t>
            </a:r>
          </a:p>
          <a:p>
            <a:endParaRPr lang="en-IN" dirty="0">
              <a:latin typeface="Arial Rounded MT Bold" panose="020F0704030504030204" pitchFamily="34" charset="0"/>
            </a:endParaRPr>
          </a:p>
          <a:p>
            <a:endParaRPr lang="en-IN" dirty="0">
              <a:latin typeface="Arial Rounded MT Bold" panose="020F0704030504030204" pitchFamily="34" charset="0"/>
            </a:endParaRPr>
          </a:p>
          <a:p>
            <a:r>
              <a:rPr lang="en-IN" dirty="0">
                <a:latin typeface="Arial Rounded MT Bold" panose="020F0704030504030204" pitchFamily="34" charset="0"/>
              </a:rPr>
              <a:t>In the realm of healthcare, Chat-Med emerges as a pioneering solution, blending artificial intelligence with medical expertise to provide accessible and reliable medical consultation. By leveraging transfer learning and the advanced capabilities of the Llama 2 model, Chat-Med offers users a seamless and intuitive interface for interacting with medical information. With its foundation built on the extensive GALE ENCYCLOPEDIA of MEDICINE dataset, Chat-Med stands as a beacon of innovation, empowering individuals to take charge of their health journey.</a:t>
            </a:r>
          </a:p>
        </p:txBody>
      </p:sp>
    </p:spTree>
    <p:extLst>
      <p:ext uri="{BB962C8B-B14F-4D97-AF65-F5344CB8AC3E}">
        <p14:creationId xmlns:p14="http://schemas.microsoft.com/office/powerpoint/2010/main" val="315118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6DEDBB-64EE-82AD-9E47-DD187392C962}"/>
              </a:ext>
            </a:extLst>
          </p:cNvPr>
          <p:cNvSpPr txBox="1"/>
          <p:nvPr/>
        </p:nvSpPr>
        <p:spPr>
          <a:xfrm>
            <a:off x="1053852" y="404664"/>
            <a:ext cx="7128792" cy="584775"/>
          </a:xfrm>
          <a:prstGeom prst="rect">
            <a:avLst/>
          </a:prstGeom>
          <a:noFill/>
        </p:spPr>
        <p:txBody>
          <a:bodyPr wrap="square" rtlCol="0">
            <a:spAutoFit/>
          </a:bodyPr>
          <a:lstStyle/>
          <a:p>
            <a:r>
              <a:rPr lang="en-IN" sz="3200" dirty="0">
                <a:latin typeface="Arial Rounded MT Bold" panose="020F0704030504030204" pitchFamily="34" charset="0"/>
              </a:rPr>
              <a:t>LITERATURE REVIEW</a:t>
            </a:r>
          </a:p>
        </p:txBody>
      </p:sp>
      <p:sp>
        <p:nvSpPr>
          <p:cNvPr id="4" name="TextBox 3">
            <a:extLst>
              <a:ext uri="{FF2B5EF4-FFF2-40B4-BE49-F238E27FC236}">
                <a16:creationId xmlns:a16="http://schemas.microsoft.com/office/drawing/2014/main" id="{6A878E2F-FA7D-B777-9931-6911C3666448}"/>
              </a:ext>
            </a:extLst>
          </p:cNvPr>
          <p:cNvSpPr txBox="1"/>
          <p:nvPr/>
        </p:nvSpPr>
        <p:spPr>
          <a:xfrm>
            <a:off x="1062677" y="1190357"/>
            <a:ext cx="10144509" cy="4770537"/>
          </a:xfrm>
          <a:prstGeom prst="rect">
            <a:avLst/>
          </a:prstGeom>
          <a:noFill/>
        </p:spPr>
        <p:txBody>
          <a:bodyPr wrap="square">
            <a:spAutoFit/>
          </a:bodyPr>
          <a:lstStyle/>
          <a:p>
            <a:r>
              <a:rPr lang="en-US" sz="1600" dirty="0">
                <a:latin typeface="Arial Rounded MT Bold" panose="020F0704030504030204" pitchFamily="34" charset="0"/>
              </a:rPr>
              <a:t>Previous studies have explored the utilization of transfer learning in medical chatbots, highlighting its potential to enhance performance and adaptability across diverse medical domains </a:t>
            </a:r>
            <a:r>
              <a:rPr lang="en-US" sz="1600" dirty="0">
                <a:highlight>
                  <a:srgbClr val="0000FF"/>
                </a:highlight>
              </a:rPr>
              <a:t>{Oh, K.-J. et al. (2017). A chatbot for psychiatric counselling in mental healthcare service based on emotional dialogue analysis and sentence generation}. </a:t>
            </a:r>
            <a:r>
              <a:rPr lang="en-US" sz="1600" dirty="0">
                <a:latin typeface="Arial Rounded MT Bold" panose="020F0704030504030204" pitchFamily="34" charset="0"/>
              </a:rPr>
              <a:t>Transfer learning techniques enable chatbots to leverage pre-existing knowledge from large datasets, facilitating the understanding of medical terminologies and nuances.</a:t>
            </a:r>
          </a:p>
          <a:p>
            <a:endParaRPr lang="en-US" sz="1600" dirty="0">
              <a:latin typeface="Arial Rounded MT Bold" panose="020F0704030504030204" pitchFamily="34" charset="0"/>
            </a:endParaRPr>
          </a:p>
          <a:p>
            <a:r>
              <a:rPr lang="en-US" sz="1600" dirty="0">
                <a:latin typeface="Arial Rounded MT Bold" panose="020F0704030504030204" pitchFamily="34" charset="0"/>
              </a:rPr>
              <a:t>The integration of advanced language models, such as Llama 2, has emerged as a promising avenue for enhancing the conversational capabilities of medical chatbots </a:t>
            </a:r>
            <a:r>
              <a:rPr lang="en-US" sz="1600" dirty="0">
                <a:highlight>
                  <a:srgbClr val="0000FF"/>
                </a:highlight>
                <a:latin typeface="+mj-lt"/>
              </a:rPr>
              <a:t>{</a:t>
            </a:r>
            <a:r>
              <a:rPr lang="en-US" sz="1600" dirty="0" err="1">
                <a:highlight>
                  <a:srgbClr val="0000FF"/>
                </a:highlight>
                <a:latin typeface="+mj-lt"/>
              </a:rPr>
              <a:t>Kowatsch</a:t>
            </a:r>
            <a:r>
              <a:rPr lang="en-US" sz="1600" dirty="0">
                <a:highlight>
                  <a:srgbClr val="0000FF"/>
                </a:highlight>
                <a:latin typeface="+mj-lt"/>
              </a:rPr>
              <a:t>, T., M. </a:t>
            </a:r>
            <a:r>
              <a:rPr lang="en-US" sz="1600" dirty="0" err="1">
                <a:highlight>
                  <a:srgbClr val="0000FF"/>
                </a:highlight>
                <a:latin typeface="+mj-lt"/>
              </a:rPr>
              <a:t>Nißen</a:t>
            </a:r>
            <a:r>
              <a:rPr lang="en-US" sz="1600" dirty="0">
                <a:highlight>
                  <a:srgbClr val="0000FF"/>
                </a:highlight>
                <a:latin typeface="+mj-lt"/>
              </a:rPr>
              <a:t>, C.-H. I. Shih, D. </a:t>
            </a:r>
            <a:r>
              <a:rPr lang="en-US" sz="1600" dirty="0" err="1">
                <a:highlight>
                  <a:srgbClr val="0000FF"/>
                </a:highlight>
                <a:latin typeface="+mj-lt"/>
              </a:rPr>
              <a:t>Rüegger</a:t>
            </a:r>
            <a:r>
              <a:rPr lang="en-US" sz="1600" dirty="0">
                <a:highlight>
                  <a:srgbClr val="0000FF"/>
                </a:highlight>
                <a:latin typeface="+mj-lt"/>
              </a:rPr>
              <a:t>, D. </a:t>
            </a:r>
            <a:r>
              <a:rPr lang="en-US" sz="1600" dirty="0" err="1">
                <a:highlight>
                  <a:srgbClr val="0000FF"/>
                </a:highlight>
                <a:latin typeface="+mj-lt"/>
              </a:rPr>
              <a:t>Volland</a:t>
            </a:r>
            <a:r>
              <a:rPr lang="en-US" sz="1600" dirty="0">
                <a:highlight>
                  <a:srgbClr val="0000FF"/>
                </a:highlight>
                <a:latin typeface="+mj-lt"/>
              </a:rPr>
              <a:t>, A. Filler, F. </a:t>
            </a:r>
            <a:r>
              <a:rPr lang="en-US" sz="1600" dirty="0" err="1">
                <a:highlight>
                  <a:srgbClr val="0000FF"/>
                </a:highlight>
                <a:latin typeface="+mj-lt"/>
              </a:rPr>
              <a:t>Künzler</a:t>
            </a:r>
            <a:r>
              <a:rPr lang="en-US" sz="1600" dirty="0">
                <a:highlight>
                  <a:srgbClr val="0000FF"/>
                </a:highlight>
                <a:latin typeface="+mj-lt"/>
              </a:rPr>
              <a:t>, F. </a:t>
            </a:r>
            <a:r>
              <a:rPr lang="en-US" sz="1600" dirty="0" err="1">
                <a:highlight>
                  <a:srgbClr val="0000FF"/>
                </a:highlight>
                <a:latin typeface="+mj-lt"/>
              </a:rPr>
              <a:t>Barata</a:t>
            </a:r>
            <a:r>
              <a:rPr lang="en-US" sz="1600" dirty="0">
                <a:highlight>
                  <a:srgbClr val="0000FF"/>
                </a:highlight>
                <a:latin typeface="+mj-lt"/>
              </a:rPr>
              <a:t>, D. </a:t>
            </a:r>
            <a:r>
              <a:rPr lang="en-US" sz="1600" dirty="0" err="1">
                <a:highlight>
                  <a:srgbClr val="0000FF"/>
                </a:highlight>
                <a:latin typeface="+mj-lt"/>
              </a:rPr>
              <a:t>Büchter</a:t>
            </a:r>
            <a:r>
              <a:rPr lang="en-US" sz="1600" dirty="0">
                <a:highlight>
                  <a:srgbClr val="0000FF"/>
                </a:highlight>
                <a:latin typeface="+mj-lt"/>
              </a:rPr>
              <a:t>, B. </a:t>
            </a:r>
            <a:r>
              <a:rPr lang="en-US" sz="1600" dirty="0" err="1">
                <a:highlight>
                  <a:srgbClr val="0000FF"/>
                </a:highlight>
                <a:latin typeface="+mj-lt"/>
              </a:rPr>
              <a:t>Brogle</a:t>
            </a:r>
            <a:r>
              <a:rPr lang="en-US" sz="1600" dirty="0">
                <a:highlight>
                  <a:srgbClr val="0000FF"/>
                </a:highlight>
                <a:latin typeface="+mj-lt"/>
              </a:rPr>
              <a:t>, et al. (2017). Text-based healthcare chatbots supporting patient and health professional teams: preliminary results of a randomized controlled trial on childhood obesity}. </a:t>
            </a:r>
            <a:r>
              <a:rPr lang="en-US" sz="1600" dirty="0">
                <a:latin typeface="Arial Rounded MT Bold" panose="020F0704030504030204" pitchFamily="34" charset="0"/>
              </a:rPr>
              <a:t>These models exhibit remarkable proficiency in understanding context and generating human-like responses, thereby enhancing the user experience.</a:t>
            </a:r>
          </a:p>
          <a:p>
            <a:endParaRPr lang="en-US" sz="1600" dirty="0">
              <a:latin typeface="Arial Rounded MT Bold" panose="020F0704030504030204" pitchFamily="34" charset="0"/>
            </a:endParaRPr>
          </a:p>
          <a:p>
            <a:r>
              <a:rPr lang="en-US" sz="1600" dirty="0">
                <a:latin typeface="Arial Rounded MT Bold" panose="020F0704030504030204" pitchFamily="34" charset="0"/>
              </a:rPr>
              <a:t>Studies exploring the utilization of domain-specific datasets, such as the GALE ENCYCLOPEDIA of MEDICINE, have shed light on the importance of tailored knowledge sources in improving the accuracy and reliability of medical chatbots </a:t>
            </a:r>
            <a:r>
              <a:rPr lang="en-US" sz="1600" dirty="0">
                <a:highlight>
                  <a:srgbClr val="0000FF"/>
                </a:highlight>
              </a:rPr>
              <a:t>{Divya, S., V. </a:t>
            </a:r>
            <a:r>
              <a:rPr lang="en-US" sz="1600" dirty="0" err="1">
                <a:highlight>
                  <a:srgbClr val="0000FF"/>
                </a:highlight>
              </a:rPr>
              <a:t>Indumathi</a:t>
            </a:r>
            <a:r>
              <a:rPr lang="en-US" sz="1600" dirty="0">
                <a:highlight>
                  <a:srgbClr val="0000FF"/>
                </a:highlight>
              </a:rPr>
              <a:t>, S. </a:t>
            </a:r>
            <a:r>
              <a:rPr lang="en-US" sz="1600" dirty="0" err="1">
                <a:highlight>
                  <a:srgbClr val="0000FF"/>
                </a:highlight>
              </a:rPr>
              <a:t>Ishwarya</a:t>
            </a:r>
            <a:r>
              <a:rPr lang="en-US" sz="1600" dirty="0">
                <a:highlight>
                  <a:srgbClr val="0000FF"/>
                </a:highlight>
              </a:rPr>
              <a:t>, M. </a:t>
            </a:r>
            <a:r>
              <a:rPr lang="en-US" sz="1600" dirty="0" err="1">
                <a:highlight>
                  <a:srgbClr val="0000FF"/>
                </a:highlight>
              </a:rPr>
              <a:t>Priyasankari</a:t>
            </a:r>
            <a:r>
              <a:rPr lang="en-US" sz="1600" dirty="0">
                <a:highlight>
                  <a:srgbClr val="0000FF"/>
                </a:highlight>
              </a:rPr>
              <a:t>, and S. K. Devi (2018). A self-diagnosis medical chatbot using artificial intelligence. Journal of Web Development and Web Designing, 3(1), 1–7}. </a:t>
            </a:r>
            <a:r>
              <a:rPr lang="en-US" sz="1600" dirty="0">
                <a:latin typeface="Arial Rounded MT Bold" panose="020F0704030504030204" pitchFamily="34" charset="0"/>
              </a:rPr>
              <a:t>While such datasets provide a wealth of domain-specific information, challenges related to data bias, scalability, and coverage of diverse medical topics remain significant hurdles to overcome.</a:t>
            </a:r>
            <a:endParaRPr lang="en-IN" sz="1600" dirty="0">
              <a:latin typeface="Arial Rounded MT Bold" panose="020F0704030504030204" pitchFamily="34" charset="0"/>
            </a:endParaRPr>
          </a:p>
        </p:txBody>
      </p:sp>
    </p:spTree>
    <p:extLst>
      <p:ext uri="{BB962C8B-B14F-4D97-AF65-F5344CB8AC3E}">
        <p14:creationId xmlns:p14="http://schemas.microsoft.com/office/powerpoint/2010/main" val="253471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63455F-546D-6F0F-529B-D3D42BCF5D21}"/>
              </a:ext>
            </a:extLst>
          </p:cNvPr>
          <p:cNvSpPr txBox="1"/>
          <p:nvPr/>
        </p:nvSpPr>
        <p:spPr>
          <a:xfrm>
            <a:off x="1053852" y="404664"/>
            <a:ext cx="6106886" cy="584775"/>
          </a:xfrm>
          <a:prstGeom prst="rect">
            <a:avLst/>
          </a:prstGeom>
          <a:noFill/>
        </p:spPr>
        <p:txBody>
          <a:bodyPr wrap="square">
            <a:spAutoFit/>
          </a:bodyPr>
          <a:lstStyle/>
          <a:p>
            <a:r>
              <a:rPr lang="en-IN" sz="3200" dirty="0">
                <a:latin typeface="Arial Rounded MT Bold" panose="020F0704030504030204" pitchFamily="34" charset="0"/>
              </a:rPr>
              <a:t>LITERATURE REVIEW</a:t>
            </a:r>
          </a:p>
        </p:txBody>
      </p:sp>
      <p:sp>
        <p:nvSpPr>
          <p:cNvPr id="5" name="TextBox 4">
            <a:extLst>
              <a:ext uri="{FF2B5EF4-FFF2-40B4-BE49-F238E27FC236}">
                <a16:creationId xmlns:a16="http://schemas.microsoft.com/office/drawing/2014/main" id="{1588F28C-10C2-408F-0D50-BE786D2C53D2}"/>
              </a:ext>
            </a:extLst>
          </p:cNvPr>
          <p:cNvSpPr txBox="1"/>
          <p:nvPr/>
        </p:nvSpPr>
        <p:spPr>
          <a:xfrm>
            <a:off x="981844" y="1103297"/>
            <a:ext cx="10081120" cy="5355312"/>
          </a:xfrm>
          <a:prstGeom prst="rect">
            <a:avLst/>
          </a:prstGeom>
          <a:noFill/>
        </p:spPr>
        <p:txBody>
          <a:bodyPr wrap="square">
            <a:spAutoFit/>
          </a:bodyPr>
          <a:lstStyle/>
          <a:p>
            <a:r>
              <a:rPr lang="en-US" sz="1800" dirty="0">
                <a:latin typeface="Arial Rounded MT Bold" panose="020F0704030504030204" pitchFamily="34" charset="0"/>
              </a:rPr>
              <a:t>Cascaded diffusion models have demonstrated potential in enhancing the quality and diversity of responses generated by medical chatbots </a:t>
            </a:r>
            <a:r>
              <a:rPr lang="en-US" sz="1800" dirty="0">
                <a:highlight>
                  <a:srgbClr val="0000FF"/>
                </a:highlight>
                <a:latin typeface="+mj-lt"/>
              </a:rPr>
              <a:t>{</a:t>
            </a:r>
            <a:r>
              <a:rPr lang="en-AU" sz="1800" dirty="0">
                <a:effectLst/>
                <a:highlight>
                  <a:srgbClr val="0000FF"/>
                </a:highlight>
                <a:latin typeface="+mj-lt"/>
                <a:ea typeface="SimSun" panose="02010600030101010101" pitchFamily="2" charset="-122"/>
              </a:rPr>
              <a:t>A. F. Ur Rahman Khilji, S. R. Laskar, P. </a:t>
            </a:r>
            <a:r>
              <a:rPr lang="en-AU" sz="1800" dirty="0" err="1">
                <a:effectLst/>
                <a:highlight>
                  <a:srgbClr val="0000FF"/>
                </a:highlight>
                <a:latin typeface="+mj-lt"/>
                <a:ea typeface="SimSun" panose="02010600030101010101" pitchFamily="2" charset="-122"/>
              </a:rPr>
              <a:t>Pakray</a:t>
            </a:r>
            <a:r>
              <a:rPr lang="en-AU" sz="1800" dirty="0">
                <a:effectLst/>
                <a:highlight>
                  <a:srgbClr val="0000FF"/>
                </a:highlight>
                <a:latin typeface="+mj-lt"/>
                <a:ea typeface="SimSun" panose="02010600030101010101" pitchFamily="2" charset="-122"/>
              </a:rPr>
              <a:t>, R. A. Kadir, M. S. Lydia and S. Bandy-</a:t>
            </a:r>
            <a:r>
              <a:rPr lang="en-AU" sz="1800" dirty="0" err="1">
                <a:effectLst/>
                <a:highlight>
                  <a:srgbClr val="0000FF"/>
                </a:highlight>
                <a:latin typeface="+mj-lt"/>
                <a:ea typeface="SimSun" panose="02010600030101010101" pitchFamily="2" charset="-122"/>
              </a:rPr>
              <a:t>opadhyay</a:t>
            </a:r>
            <a:r>
              <a:rPr lang="en-AU" sz="1800" dirty="0">
                <a:effectLst/>
                <a:highlight>
                  <a:srgbClr val="0000FF"/>
                </a:highlight>
                <a:latin typeface="+mj-lt"/>
                <a:ea typeface="SimSun" panose="02010600030101010101" pitchFamily="2" charset="-122"/>
              </a:rPr>
              <a:t>, "</a:t>
            </a:r>
            <a:r>
              <a:rPr lang="en-AU" sz="1800" dirty="0" err="1">
                <a:effectLst/>
                <a:highlight>
                  <a:srgbClr val="0000FF"/>
                </a:highlight>
                <a:latin typeface="+mj-lt"/>
                <a:ea typeface="SimSun" panose="02010600030101010101" pitchFamily="2" charset="-122"/>
              </a:rPr>
              <a:t>HealFavor</a:t>
            </a:r>
            <a:r>
              <a:rPr lang="en-AU" sz="1800" dirty="0">
                <a:effectLst/>
                <a:highlight>
                  <a:srgbClr val="0000FF"/>
                </a:highlight>
                <a:latin typeface="+mj-lt"/>
                <a:ea typeface="SimSun" panose="02010600030101010101" pitchFamily="2" charset="-122"/>
              </a:rPr>
              <a:t>: Dataset and A Prototype System for Healthcare </a:t>
            </a:r>
            <a:r>
              <a:rPr lang="en-AU" sz="1800" dirty="0" err="1">
                <a:effectLst/>
                <a:highlight>
                  <a:srgbClr val="0000FF"/>
                </a:highlight>
                <a:latin typeface="+mj-lt"/>
                <a:ea typeface="SimSun" panose="02010600030101010101" pitchFamily="2" charset="-122"/>
              </a:rPr>
              <a:t>ChatBot</a:t>
            </a:r>
            <a:r>
              <a:rPr lang="en-AU" sz="1800" dirty="0">
                <a:effectLst/>
                <a:highlight>
                  <a:srgbClr val="0000FF"/>
                </a:highlight>
                <a:latin typeface="+mj-lt"/>
                <a:ea typeface="SimSun" panose="02010600030101010101" pitchFamily="2" charset="-122"/>
              </a:rPr>
              <a:t>," </a:t>
            </a:r>
            <a:r>
              <a:rPr lang="en-US" sz="1800" dirty="0">
                <a:effectLst/>
                <a:highlight>
                  <a:srgbClr val="0000FF"/>
                </a:highlight>
                <a:latin typeface="+mj-lt"/>
                <a:ea typeface="SimSun" panose="02010600030101010101" pitchFamily="2" charset="-122"/>
              </a:rPr>
              <a:t>}</a:t>
            </a:r>
            <a:r>
              <a:rPr lang="en-US" sz="1800" dirty="0">
                <a:highlight>
                  <a:srgbClr val="0000FF"/>
                </a:highlight>
                <a:latin typeface="Arial Rounded MT Bold" panose="020F0704030504030204" pitchFamily="34" charset="0"/>
              </a:rPr>
              <a:t> </a:t>
            </a:r>
            <a:r>
              <a:rPr lang="en-US" sz="1800" dirty="0">
                <a:latin typeface="Arial Rounded MT Bold" panose="020F0704030504030204" pitchFamily="34" charset="0"/>
              </a:rPr>
              <a:t>These models leverage hierarchical dependencies and conditioning augmentation techniques to refine the synthesis of medical information, thereby enriching the user experience.</a:t>
            </a:r>
          </a:p>
          <a:p>
            <a:endParaRPr lang="en-US" sz="1800" dirty="0">
              <a:latin typeface="Arial Rounded MT Bold" panose="020F0704030504030204" pitchFamily="34" charset="0"/>
            </a:endParaRPr>
          </a:p>
          <a:p>
            <a:r>
              <a:rPr lang="en-US" sz="1800" dirty="0">
                <a:latin typeface="Arial Rounded MT Bold" panose="020F0704030504030204" pitchFamily="34" charset="0"/>
              </a:rPr>
              <a:t>Despite advancements, significant limitations persist, hampering the widespread adoption of medical chatbots </a:t>
            </a:r>
            <a:r>
              <a:rPr lang="en-US" sz="1800" dirty="0">
                <a:highlight>
                  <a:srgbClr val="0000FF"/>
                </a:highlight>
                <a:latin typeface="+mj-lt"/>
              </a:rPr>
              <a:t>{</a:t>
            </a:r>
            <a:r>
              <a:rPr lang="en-AU" sz="1800" dirty="0">
                <a:effectLst/>
                <a:highlight>
                  <a:srgbClr val="0000FF"/>
                </a:highlight>
                <a:latin typeface="+mj-lt"/>
                <a:ea typeface="SimSun" panose="02010600030101010101" pitchFamily="2" charset="-122"/>
              </a:rPr>
              <a:t>A. Kaya, A. S. </a:t>
            </a:r>
            <a:r>
              <a:rPr lang="en-AU" sz="1800" dirty="0" err="1">
                <a:effectLst/>
                <a:highlight>
                  <a:srgbClr val="0000FF"/>
                </a:highlight>
                <a:latin typeface="+mj-lt"/>
                <a:ea typeface="SimSun" panose="02010600030101010101" pitchFamily="2" charset="-122"/>
              </a:rPr>
              <a:t>Keceli</a:t>
            </a:r>
            <a:r>
              <a:rPr lang="en-AU" sz="1800" dirty="0">
                <a:effectLst/>
                <a:highlight>
                  <a:srgbClr val="0000FF"/>
                </a:highlight>
                <a:latin typeface="+mj-lt"/>
                <a:ea typeface="SimSun" panose="02010600030101010101" pitchFamily="2" charset="-122"/>
              </a:rPr>
              <a:t>, C. </a:t>
            </a:r>
            <a:r>
              <a:rPr lang="en-AU" sz="1800" dirty="0" err="1">
                <a:effectLst/>
                <a:highlight>
                  <a:srgbClr val="0000FF"/>
                </a:highlight>
                <a:latin typeface="+mj-lt"/>
                <a:ea typeface="SimSun" panose="02010600030101010101" pitchFamily="2" charset="-122"/>
              </a:rPr>
              <a:t>Catal</a:t>
            </a:r>
            <a:r>
              <a:rPr lang="en-AU" sz="1800" dirty="0">
                <a:effectLst/>
                <a:highlight>
                  <a:srgbClr val="0000FF"/>
                </a:highlight>
                <a:latin typeface="+mj-lt"/>
                <a:ea typeface="SimSun" panose="02010600030101010101" pitchFamily="2" charset="-122"/>
              </a:rPr>
              <a:t>, H. Y. </a:t>
            </a:r>
            <a:r>
              <a:rPr lang="en-AU" sz="1800" dirty="0" err="1">
                <a:effectLst/>
                <a:highlight>
                  <a:srgbClr val="0000FF"/>
                </a:highlight>
                <a:latin typeface="+mj-lt"/>
                <a:ea typeface="SimSun" panose="02010600030101010101" pitchFamily="2" charset="-122"/>
              </a:rPr>
              <a:t>Yalic</a:t>
            </a:r>
            <a:r>
              <a:rPr lang="en-AU" sz="1800" dirty="0">
                <a:effectLst/>
                <a:highlight>
                  <a:srgbClr val="0000FF"/>
                </a:highlight>
                <a:latin typeface="+mj-lt"/>
                <a:ea typeface="SimSun" panose="02010600030101010101" pitchFamily="2" charset="-122"/>
              </a:rPr>
              <a:t>, H. </a:t>
            </a:r>
            <a:r>
              <a:rPr lang="en-AU" sz="1800" dirty="0" err="1">
                <a:effectLst/>
                <a:highlight>
                  <a:srgbClr val="0000FF"/>
                </a:highlight>
                <a:latin typeface="+mj-lt"/>
                <a:ea typeface="SimSun" panose="02010600030101010101" pitchFamily="2" charset="-122"/>
              </a:rPr>
              <a:t>Temucin</a:t>
            </a:r>
            <a:r>
              <a:rPr lang="en-AU" sz="1800" dirty="0">
                <a:effectLst/>
                <a:highlight>
                  <a:srgbClr val="0000FF"/>
                </a:highlight>
                <a:latin typeface="+mj-lt"/>
                <a:ea typeface="SimSun" panose="02010600030101010101" pitchFamily="2" charset="-122"/>
              </a:rPr>
              <a:t>, and B. </a:t>
            </a:r>
            <a:r>
              <a:rPr lang="en-AU" sz="1800" dirty="0" err="1">
                <a:effectLst/>
                <a:highlight>
                  <a:srgbClr val="0000FF"/>
                </a:highlight>
                <a:latin typeface="+mj-lt"/>
                <a:ea typeface="SimSun" panose="02010600030101010101" pitchFamily="2" charset="-122"/>
              </a:rPr>
              <a:t>Tekinerdogan</a:t>
            </a:r>
            <a:r>
              <a:rPr lang="en-AU" sz="1800" dirty="0">
                <a:effectLst/>
                <a:highlight>
                  <a:srgbClr val="0000FF"/>
                </a:highlight>
                <a:latin typeface="+mj-lt"/>
                <a:ea typeface="SimSun" panose="02010600030101010101" pitchFamily="2" charset="-122"/>
              </a:rPr>
              <a:t>, ‘‘Analysis of transfer learning for deep neural network-based plant classification models,’</a:t>
            </a:r>
            <a:r>
              <a:rPr lang="en-US" sz="1800" dirty="0">
                <a:effectLst/>
                <a:highlight>
                  <a:srgbClr val="0000FF"/>
                </a:highlight>
                <a:latin typeface="+mj-lt"/>
                <a:ea typeface="SimSun" panose="02010600030101010101" pitchFamily="2" charset="-122"/>
              </a:rPr>
              <a:t>}</a:t>
            </a:r>
            <a:r>
              <a:rPr lang="en-US" sz="1800" dirty="0">
                <a:highlight>
                  <a:srgbClr val="0000FF"/>
                </a:highlight>
                <a:latin typeface="+mj-lt"/>
              </a:rPr>
              <a:t>. </a:t>
            </a:r>
            <a:r>
              <a:rPr lang="en-US" sz="1800" dirty="0">
                <a:latin typeface="Arial Rounded MT Bold" panose="020F0704030504030204" pitchFamily="34" charset="0"/>
              </a:rPr>
              <a:t>Computational efficiency remains a key concern, particularly in resource-constrained environments where chatbots must operate with limited processing power and memory.</a:t>
            </a:r>
          </a:p>
          <a:p>
            <a:endParaRPr lang="en-US" sz="1800" dirty="0">
              <a:latin typeface="Arial Rounded MT Bold" panose="020F0704030504030204" pitchFamily="34" charset="0"/>
            </a:endParaRPr>
          </a:p>
          <a:p>
            <a:r>
              <a:rPr lang="en-US" sz="1800" dirty="0">
                <a:latin typeface="Arial Rounded MT Bold" panose="020F0704030504030204" pitchFamily="34" charset="0"/>
              </a:rPr>
              <a:t>Ethical considerations, including patient privacy and algorithmic transparency, are essential for the ethical development and deployment of medical chatbots </a:t>
            </a:r>
            <a:r>
              <a:rPr lang="en-US" sz="1800" dirty="0">
                <a:highlight>
                  <a:srgbClr val="0000FF"/>
                </a:highlight>
                <a:latin typeface="+mj-lt"/>
              </a:rPr>
              <a:t>{</a:t>
            </a:r>
            <a:r>
              <a:rPr lang="en-AU" sz="1800" dirty="0">
                <a:effectLst/>
                <a:highlight>
                  <a:srgbClr val="0000FF"/>
                </a:highlight>
                <a:latin typeface="+mj-lt"/>
                <a:ea typeface="SimSun" panose="02010600030101010101" pitchFamily="2" charset="-122"/>
              </a:rPr>
              <a:t>Hiba Hussain1, Komal Aswani2, Mahima Gupta3, Dr. G.T. Thampi4, Implementation of Disease Prediction Chatbot and Report Analyzer using the Concepts of NLP, Machine Learning and OCR</a:t>
            </a:r>
            <a:r>
              <a:rPr lang="en-US" sz="1800" dirty="0">
                <a:effectLst/>
                <a:highlight>
                  <a:srgbClr val="0000FF"/>
                </a:highlight>
                <a:latin typeface="+mj-lt"/>
                <a:ea typeface="SimSun" panose="02010600030101010101" pitchFamily="2" charset="-122"/>
              </a:rPr>
              <a:t>.</a:t>
            </a:r>
            <a:r>
              <a:rPr lang="en-US" sz="1800" dirty="0">
                <a:highlight>
                  <a:srgbClr val="0000FF"/>
                </a:highlight>
                <a:latin typeface="+mj-lt"/>
                <a:ea typeface="SimSun" panose="02010600030101010101" pitchFamily="2" charset="-122"/>
              </a:rPr>
              <a:t>}</a:t>
            </a:r>
            <a:endParaRPr lang="en-IN" sz="1800" dirty="0">
              <a:effectLst/>
              <a:highlight>
                <a:srgbClr val="0000FF"/>
              </a:highlight>
              <a:latin typeface="+mj-lt"/>
              <a:ea typeface="SimSun" panose="02010600030101010101" pitchFamily="2" charset="-122"/>
            </a:endParaRPr>
          </a:p>
          <a:p>
            <a:r>
              <a:rPr lang="en-US" sz="1800" dirty="0">
                <a:latin typeface="Arial Rounded MT Bold" panose="020F0704030504030204" pitchFamily="34" charset="0"/>
              </a:rPr>
              <a:t>). Ensuring adherence to ethical guidelines and addressing potential biases in chatbot algorithms are paramount to safeguarding patient trust and autonomy.</a:t>
            </a:r>
          </a:p>
        </p:txBody>
      </p:sp>
    </p:spTree>
    <p:extLst>
      <p:ext uri="{BB962C8B-B14F-4D97-AF65-F5344CB8AC3E}">
        <p14:creationId xmlns:p14="http://schemas.microsoft.com/office/powerpoint/2010/main" val="3277047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AE629B-BE0C-35B6-CDEE-737718CE815C}"/>
              </a:ext>
            </a:extLst>
          </p:cNvPr>
          <p:cNvSpPr txBox="1"/>
          <p:nvPr/>
        </p:nvSpPr>
        <p:spPr>
          <a:xfrm>
            <a:off x="1218883" y="274637"/>
            <a:ext cx="10360501" cy="1223963"/>
          </a:xfrm>
          <a:prstGeom prst="rect">
            <a:avLst/>
          </a:prstGeom>
        </p:spPr>
        <p:txBody>
          <a:bodyPr vert="horz" lIns="121899" tIns="60949" rIns="121899" bIns="60949" rtlCol="0" anchor="b">
            <a:normAutofit/>
          </a:bodyPr>
          <a:lstStyle/>
          <a:p>
            <a:pPr>
              <a:lnSpc>
                <a:spcPct val="90000"/>
              </a:lnSpc>
              <a:spcBef>
                <a:spcPct val="0"/>
              </a:spcBef>
              <a:spcAft>
                <a:spcPts val="600"/>
              </a:spcAft>
            </a:pPr>
            <a:r>
              <a:rPr lang="en-US" sz="3600" b="1" dirty="0">
                <a:latin typeface="Arial Rounded MT Bold" panose="020F0704030504030204" pitchFamily="34" charset="0"/>
                <a:ea typeface="+mj-ea"/>
                <a:cs typeface="+mj-cs"/>
              </a:rPr>
              <a:t>Llama 2</a:t>
            </a:r>
          </a:p>
        </p:txBody>
      </p:sp>
      <p:sp>
        <p:nvSpPr>
          <p:cNvPr id="6" name="TextBox 5">
            <a:extLst>
              <a:ext uri="{FF2B5EF4-FFF2-40B4-BE49-F238E27FC236}">
                <a16:creationId xmlns:a16="http://schemas.microsoft.com/office/drawing/2014/main" id="{3C0B33F4-93E7-3951-4F99-6BDC603323B6}"/>
              </a:ext>
            </a:extLst>
          </p:cNvPr>
          <p:cNvSpPr txBox="1"/>
          <p:nvPr/>
        </p:nvSpPr>
        <p:spPr>
          <a:xfrm>
            <a:off x="1218883" y="1706880"/>
            <a:ext cx="5078677" cy="4465320"/>
          </a:xfrm>
          <a:prstGeom prst="rect">
            <a:avLst/>
          </a:prstGeom>
        </p:spPr>
        <p:txBody>
          <a:bodyPr vert="horz" lIns="121899" tIns="60949" rIns="121899" bIns="60949" rtlCol="0">
            <a:normAutofit lnSpcReduction="10000"/>
          </a:bodyPr>
          <a:lstStyle/>
          <a:p>
            <a:pPr marL="304747" indent="-304747">
              <a:lnSpc>
                <a:spcPct val="90000"/>
              </a:lnSpc>
              <a:spcBef>
                <a:spcPts val="1600"/>
              </a:spcBef>
              <a:buClr>
                <a:schemeClr val="accent1"/>
              </a:buClr>
              <a:buSzPct val="100000"/>
              <a:buFont typeface="Arial" pitchFamily="34" charset="0"/>
              <a:buChar char="•"/>
            </a:pPr>
            <a:endParaRPr lang="en-US" sz="2600" dirty="0"/>
          </a:p>
          <a:p>
            <a:pPr>
              <a:lnSpc>
                <a:spcPct val="90000"/>
              </a:lnSpc>
              <a:spcBef>
                <a:spcPts val="1600"/>
              </a:spcBef>
              <a:buClr>
                <a:schemeClr val="accent1"/>
              </a:buClr>
              <a:buSzPct val="100000"/>
            </a:pPr>
            <a:r>
              <a:rPr lang="en-US" sz="2600" dirty="0">
                <a:latin typeface="Arial Rounded MT Bold" panose="020F0704030504030204" pitchFamily="34" charset="0"/>
              </a:rPr>
              <a:t>Llama 2: Advanced language model with top-notch text understanding and generation. It's a go-to for tasks like text completion, question answering, and translation. Widely used in chatbots and virtual assistants, it's a game-changer in natural language processing</a:t>
            </a:r>
            <a:r>
              <a:rPr lang="en-US" sz="2600" dirty="0"/>
              <a:t>.</a:t>
            </a:r>
          </a:p>
        </p:txBody>
      </p:sp>
      <p:pic>
        <p:nvPicPr>
          <p:cNvPr id="2050" name="Picture 2" descr="Unveiling the Language Revolution: Llama 2 Meta AI Transforming AI Across  Industries">
            <a:extLst>
              <a:ext uri="{FF2B5EF4-FFF2-40B4-BE49-F238E27FC236}">
                <a16:creationId xmlns:a16="http://schemas.microsoft.com/office/drawing/2014/main" id="{193D8478-28F6-EA95-6349-82807417EC0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00707" y="2460376"/>
            <a:ext cx="5078677" cy="2958328"/>
          </a:xfrm>
          <a:prstGeom prst="rect">
            <a:avLst/>
          </a:prstGeom>
          <a:solidFill>
            <a:srgbClr val="FFFFFF"/>
          </a:solidFill>
        </p:spPr>
      </p:pic>
    </p:spTree>
    <p:extLst>
      <p:ext uri="{BB962C8B-B14F-4D97-AF65-F5344CB8AC3E}">
        <p14:creationId xmlns:p14="http://schemas.microsoft.com/office/powerpoint/2010/main" val="2157747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7A91B-EC9B-5CDD-30B3-FA4821289494}"/>
              </a:ext>
            </a:extLst>
          </p:cNvPr>
          <p:cNvSpPr>
            <a:spLocks noGrp="1"/>
          </p:cNvSpPr>
          <p:nvPr>
            <p:ph type="title"/>
          </p:nvPr>
        </p:nvSpPr>
        <p:spPr>
          <a:xfrm>
            <a:off x="920283" y="0"/>
            <a:ext cx="10360501" cy="1223963"/>
          </a:xfrm>
        </p:spPr>
        <p:txBody>
          <a:bodyPr/>
          <a:lstStyle/>
          <a:p>
            <a:r>
              <a:rPr lang="en-IN" b="1">
                <a:latin typeface="Arial Rounded MT Bold" panose="020F0704030504030204" pitchFamily="34" charset="0"/>
              </a:rPr>
              <a:t>LLM AND LANGCHAIN</a:t>
            </a:r>
            <a:endParaRPr lang="en-IN" b="1" dirty="0">
              <a:latin typeface="Arial Rounded MT Bold" panose="020F0704030504030204" pitchFamily="34" charset="0"/>
            </a:endParaRPr>
          </a:p>
        </p:txBody>
      </p:sp>
      <p:sp>
        <p:nvSpPr>
          <p:cNvPr id="6" name="TextBox 5">
            <a:extLst>
              <a:ext uri="{FF2B5EF4-FFF2-40B4-BE49-F238E27FC236}">
                <a16:creationId xmlns:a16="http://schemas.microsoft.com/office/drawing/2014/main" id="{98D08264-284E-B59F-021F-9811BFC14246}"/>
              </a:ext>
            </a:extLst>
          </p:cNvPr>
          <p:cNvSpPr txBox="1"/>
          <p:nvPr/>
        </p:nvSpPr>
        <p:spPr>
          <a:xfrm>
            <a:off x="909836" y="1478519"/>
            <a:ext cx="6840760" cy="4431983"/>
          </a:xfrm>
          <a:prstGeom prst="rect">
            <a:avLst/>
          </a:prstGeom>
          <a:noFill/>
        </p:spPr>
        <p:txBody>
          <a:bodyPr wrap="square">
            <a:spAutoFit/>
          </a:bodyPr>
          <a:lstStyle/>
          <a:p>
            <a:r>
              <a:rPr lang="en-US" sz="2000" b="1" dirty="0">
                <a:latin typeface="Arial Rounded MT Bold" panose="020F0704030504030204" pitchFamily="34" charset="0"/>
              </a:rPr>
              <a:t>LLM (Large Language Model):</a:t>
            </a:r>
          </a:p>
          <a:p>
            <a:endParaRPr lang="en-US" sz="1800" dirty="0">
              <a:latin typeface="Arial Rounded MT Bold" panose="020F0704030504030204" pitchFamily="34" charset="0"/>
            </a:endParaRPr>
          </a:p>
          <a:p>
            <a:pPr marL="285750" indent="-285750">
              <a:buFont typeface="Arial" panose="020B0604020202020204" pitchFamily="34" charset="0"/>
              <a:buChar char="•"/>
            </a:pPr>
            <a:r>
              <a:rPr lang="en-US" sz="1400" dirty="0">
                <a:latin typeface="Arial Rounded MT Bold" panose="020F0704030504030204" pitchFamily="34" charset="0"/>
              </a:rPr>
              <a:t>LLMs are advanced AI models that understand and generate human-like text.</a:t>
            </a:r>
          </a:p>
          <a:p>
            <a:pPr marL="285750" indent="-285750">
              <a:buFont typeface="Arial" panose="020B0604020202020204" pitchFamily="34" charset="0"/>
              <a:buChar char="•"/>
            </a:pPr>
            <a:r>
              <a:rPr lang="en-US" sz="1400" dirty="0">
                <a:latin typeface="Arial Rounded MT Bold" panose="020F0704030504030204" pitchFamily="34" charset="0"/>
              </a:rPr>
              <a:t>They're trained on massive datasets to learn language patterns for tasks like text completion and translation.</a:t>
            </a:r>
          </a:p>
          <a:p>
            <a:pPr marL="285750" indent="-285750">
              <a:buFont typeface="Arial" panose="020B0604020202020204" pitchFamily="34" charset="0"/>
              <a:buChar char="•"/>
            </a:pPr>
            <a:r>
              <a:rPr lang="en-US" sz="1400" dirty="0">
                <a:latin typeface="Arial Rounded MT Bold" panose="020F0704030504030204" pitchFamily="34" charset="0"/>
              </a:rPr>
              <a:t>LLMs are versatile tools used in chatbots, virtual assistants, and content creation.</a:t>
            </a:r>
          </a:p>
          <a:p>
            <a:endParaRPr lang="en-US" sz="1600" dirty="0">
              <a:latin typeface="Arial Rounded MT Bold" panose="020F0704030504030204" pitchFamily="34" charset="0"/>
            </a:endParaRPr>
          </a:p>
          <a:p>
            <a:r>
              <a:rPr lang="en-US" sz="2000" b="1" dirty="0" err="1">
                <a:latin typeface="Arial Rounded MT Bold" panose="020F0704030504030204" pitchFamily="34" charset="0"/>
              </a:rPr>
              <a:t>LangChain</a:t>
            </a:r>
            <a:r>
              <a:rPr lang="en-US" sz="2000" b="1" dirty="0">
                <a:latin typeface="Arial Rounded MT Bold" panose="020F0704030504030204" pitchFamily="34" charset="0"/>
              </a:rPr>
              <a:t>:</a:t>
            </a:r>
          </a:p>
          <a:p>
            <a:endParaRPr lang="en-US" sz="1800" b="1" dirty="0">
              <a:latin typeface="Arial Rounded MT Bold" panose="020F0704030504030204" pitchFamily="34" charset="0"/>
            </a:endParaRPr>
          </a:p>
          <a:p>
            <a:pPr marL="285750" indent="-285750">
              <a:buFont typeface="Arial" panose="020B0604020202020204" pitchFamily="34" charset="0"/>
              <a:buChar char="•"/>
            </a:pPr>
            <a:r>
              <a:rPr lang="en-US" sz="1400" dirty="0" err="1">
                <a:latin typeface="Arial Rounded MT Bold" panose="020F0704030504030204" pitchFamily="34" charset="0"/>
              </a:rPr>
              <a:t>LangChain</a:t>
            </a:r>
            <a:r>
              <a:rPr lang="en-US" sz="1400" dirty="0">
                <a:latin typeface="Arial Rounded MT Bold" panose="020F0704030504030204" pitchFamily="34" charset="0"/>
              </a:rPr>
              <a:t> is a blockchain platform for language services.</a:t>
            </a:r>
          </a:p>
          <a:p>
            <a:pPr marL="285750" indent="-285750">
              <a:buFont typeface="Arial" panose="020B0604020202020204" pitchFamily="34" charset="0"/>
              <a:buChar char="•"/>
            </a:pPr>
            <a:r>
              <a:rPr lang="en-US" sz="1400" dirty="0">
                <a:latin typeface="Arial Rounded MT Bold" panose="020F0704030504030204" pitchFamily="34" charset="0"/>
              </a:rPr>
              <a:t>It decentralizes language-related transactions like translation and learning.</a:t>
            </a:r>
          </a:p>
          <a:p>
            <a:pPr marL="285750" indent="-285750">
              <a:buFont typeface="Arial" panose="020B0604020202020204" pitchFamily="34" charset="0"/>
              <a:buChar char="•"/>
            </a:pPr>
            <a:r>
              <a:rPr lang="en-US" sz="1400" dirty="0">
                <a:latin typeface="Arial Rounded MT Bold" panose="020F0704030504030204" pitchFamily="34" charset="0"/>
              </a:rPr>
              <a:t>It ensures transparency, security, and direct connections between language professionals and clients.</a:t>
            </a:r>
          </a:p>
          <a:p>
            <a:pPr marL="285750" indent="-285750">
              <a:buFont typeface="Arial" panose="020B0604020202020204" pitchFamily="34" charset="0"/>
              <a:buChar char="•"/>
            </a:pPr>
            <a:r>
              <a:rPr lang="en-US" sz="1400" dirty="0" err="1">
                <a:latin typeface="Arial Rounded MT Bold" panose="020F0704030504030204" pitchFamily="34" charset="0"/>
              </a:rPr>
              <a:t>LangChain</a:t>
            </a:r>
            <a:r>
              <a:rPr lang="en-US" sz="1400" dirty="0">
                <a:latin typeface="Arial Rounded MT Bold" panose="020F0704030504030204" pitchFamily="34" charset="0"/>
              </a:rPr>
              <a:t> revolutionizes the language industry by creating a decentralized marketplace for language services.</a:t>
            </a:r>
            <a:endParaRPr lang="en-IN" sz="1400" dirty="0">
              <a:latin typeface="Arial Rounded MT Bold" panose="020F0704030504030204" pitchFamily="34" charset="0"/>
            </a:endParaRPr>
          </a:p>
        </p:txBody>
      </p:sp>
      <p:pic>
        <p:nvPicPr>
          <p:cNvPr id="4100" name="Picture 4" descr="The Growing LangChain EcoSystem. LangChain is expanding into four key… | by  Cobus Greyling | Medium">
            <a:extLst>
              <a:ext uri="{FF2B5EF4-FFF2-40B4-BE49-F238E27FC236}">
                <a16:creationId xmlns:a16="http://schemas.microsoft.com/office/drawing/2014/main" id="{2C5641C6-2717-CC75-215E-4F2898D664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4532" y="3429000"/>
            <a:ext cx="4865052" cy="310673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LANGCHAIN">
            <a:extLst>
              <a:ext uri="{FF2B5EF4-FFF2-40B4-BE49-F238E27FC236}">
                <a16:creationId xmlns:a16="http://schemas.microsoft.com/office/drawing/2014/main" id="{66D32891-EE3F-A19E-54D2-CF3540BC0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703" y="980728"/>
            <a:ext cx="3383731"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099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7701-CA71-9A86-8C8B-C73B1CFAE9D2}"/>
              </a:ext>
            </a:extLst>
          </p:cNvPr>
          <p:cNvSpPr>
            <a:spLocks noGrp="1"/>
          </p:cNvSpPr>
          <p:nvPr>
            <p:ph type="title"/>
          </p:nvPr>
        </p:nvSpPr>
        <p:spPr>
          <a:xfrm>
            <a:off x="914161" y="231605"/>
            <a:ext cx="10360501" cy="1223963"/>
          </a:xfrm>
        </p:spPr>
        <p:txBody>
          <a:bodyPr/>
          <a:lstStyle/>
          <a:p>
            <a:r>
              <a:rPr lang="en-IN" b="1" dirty="0" err="1">
                <a:latin typeface="Arial Rounded MT Bold" panose="020F0704030504030204" pitchFamily="34" charset="0"/>
              </a:rPr>
              <a:t>HuggingFaceEmbedding</a:t>
            </a:r>
            <a:r>
              <a:rPr lang="en-IN" b="1" dirty="0">
                <a:latin typeface="Arial Rounded MT Bold" panose="020F0704030504030204" pitchFamily="34" charset="0"/>
              </a:rPr>
              <a:t> and </a:t>
            </a:r>
            <a:r>
              <a:rPr lang="en-IN" b="1" dirty="0" err="1">
                <a:latin typeface="Arial Rounded MT Bold" panose="020F0704030504030204" pitchFamily="34" charset="0"/>
              </a:rPr>
              <a:t>Fiass</a:t>
            </a:r>
            <a:r>
              <a:rPr lang="en-IN" b="1" dirty="0">
                <a:latin typeface="Arial Rounded MT Bold" panose="020F0704030504030204" pitchFamily="34" charset="0"/>
              </a:rPr>
              <a:t> Vector Score</a:t>
            </a:r>
          </a:p>
        </p:txBody>
      </p:sp>
      <p:sp>
        <p:nvSpPr>
          <p:cNvPr id="8" name="TextBox 7">
            <a:extLst>
              <a:ext uri="{FF2B5EF4-FFF2-40B4-BE49-F238E27FC236}">
                <a16:creationId xmlns:a16="http://schemas.microsoft.com/office/drawing/2014/main" id="{04F66C9E-5458-7A24-6DF5-1F33ABD2F38A}"/>
              </a:ext>
            </a:extLst>
          </p:cNvPr>
          <p:cNvSpPr txBox="1"/>
          <p:nvPr/>
        </p:nvSpPr>
        <p:spPr>
          <a:xfrm>
            <a:off x="1033673" y="1600940"/>
            <a:ext cx="5976664" cy="2123658"/>
          </a:xfrm>
          <a:prstGeom prst="rect">
            <a:avLst/>
          </a:prstGeom>
          <a:noFill/>
        </p:spPr>
        <p:txBody>
          <a:bodyPr wrap="square">
            <a:spAutoFit/>
          </a:bodyPr>
          <a:lstStyle/>
          <a:p>
            <a:r>
              <a:rPr lang="en-US" b="1" dirty="0" err="1">
                <a:latin typeface="Arial Rounded MT Bold" panose="020F0704030504030204" pitchFamily="34" charset="0"/>
              </a:rPr>
              <a:t>HuggingFace</a:t>
            </a:r>
            <a:r>
              <a:rPr lang="en-US" b="1" dirty="0">
                <a:latin typeface="Arial Rounded MT Bold" panose="020F0704030504030204" pitchFamily="34" charset="0"/>
              </a:rPr>
              <a:t> Embedding:</a:t>
            </a:r>
          </a:p>
          <a:p>
            <a:r>
              <a:rPr lang="en-US" sz="1800" dirty="0" err="1">
                <a:latin typeface="Arial Rounded MT Bold" panose="020F0704030504030204" pitchFamily="34" charset="0"/>
              </a:rPr>
              <a:t>HuggingFace</a:t>
            </a:r>
            <a:r>
              <a:rPr lang="en-US" sz="1800" dirty="0">
                <a:latin typeface="Arial Rounded MT Bold" panose="020F0704030504030204" pitchFamily="34" charset="0"/>
              </a:rPr>
              <a:t> Embedding is a technique in natural language processing (NLP) that converts words and sentences into dense numerical vectors. These vectors capture the contextual meaning of the text, facilitating tasks such as sentiment analysis and text classification.</a:t>
            </a:r>
          </a:p>
        </p:txBody>
      </p:sp>
      <p:sp>
        <p:nvSpPr>
          <p:cNvPr id="10" name="TextBox 9">
            <a:extLst>
              <a:ext uri="{FF2B5EF4-FFF2-40B4-BE49-F238E27FC236}">
                <a16:creationId xmlns:a16="http://schemas.microsoft.com/office/drawing/2014/main" id="{898D1B76-B851-1DEB-713C-EEB107226EF2}"/>
              </a:ext>
            </a:extLst>
          </p:cNvPr>
          <p:cNvSpPr txBox="1"/>
          <p:nvPr/>
        </p:nvSpPr>
        <p:spPr>
          <a:xfrm>
            <a:off x="5608615" y="4102898"/>
            <a:ext cx="6462462" cy="2308324"/>
          </a:xfrm>
          <a:prstGeom prst="rect">
            <a:avLst/>
          </a:prstGeom>
          <a:noFill/>
        </p:spPr>
        <p:txBody>
          <a:bodyPr wrap="square">
            <a:spAutoFit/>
          </a:bodyPr>
          <a:lstStyle/>
          <a:p>
            <a:r>
              <a:rPr lang="en-US" b="1" dirty="0" err="1">
                <a:latin typeface="Arial Rounded MT Bold" panose="020F0704030504030204" pitchFamily="34" charset="0"/>
              </a:rPr>
              <a:t>Fiass</a:t>
            </a:r>
            <a:r>
              <a:rPr lang="en-US" b="1" dirty="0">
                <a:latin typeface="Arial Rounded MT Bold" panose="020F0704030504030204" pitchFamily="34" charset="0"/>
              </a:rPr>
              <a:t> Vector Score:</a:t>
            </a:r>
          </a:p>
          <a:p>
            <a:r>
              <a:rPr lang="en-US" sz="2000" dirty="0">
                <a:latin typeface="Arial Rounded MT Bold" panose="020F0704030504030204" pitchFamily="34" charset="0"/>
              </a:rPr>
              <a:t>The </a:t>
            </a:r>
            <a:r>
              <a:rPr lang="en-US" sz="2000" dirty="0" err="1">
                <a:latin typeface="Arial Rounded MT Bold" panose="020F0704030504030204" pitchFamily="34" charset="0"/>
              </a:rPr>
              <a:t>Fiass</a:t>
            </a:r>
            <a:r>
              <a:rPr lang="en-US" sz="2000" dirty="0">
                <a:latin typeface="Arial Rounded MT Bold" panose="020F0704030504030204" pitchFamily="34" charset="0"/>
              </a:rPr>
              <a:t> Vector Score assesses the similarity between two texts by measuring the distance between their embeddings in a high-dimensional vector space. A lower score indicates greater similarity, making it valuable for tasks like information retrieval and recommendation systems</a:t>
            </a:r>
            <a:endParaRPr lang="en-IN" sz="2000" dirty="0">
              <a:latin typeface="Arial Rounded MT Bold" panose="020F0704030504030204" pitchFamily="34" charset="0"/>
            </a:endParaRPr>
          </a:p>
        </p:txBody>
      </p:sp>
      <p:pic>
        <p:nvPicPr>
          <p:cNvPr id="5122" name="Picture 2" descr="How to Implement Hugging Face Models using Langchain?- Analytics Vidhya">
            <a:extLst>
              <a:ext uri="{FF2B5EF4-FFF2-40B4-BE49-F238E27FC236}">
                <a16:creationId xmlns:a16="http://schemas.microsoft.com/office/drawing/2014/main" id="{0928BDD7-81CB-78E2-C675-E5289B55E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450" y="1155013"/>
            <a:ext cx="4621336" cy="228818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angChain in Detail!!. What is Langchain and why it became so… | by Nikhil  pentapalli | Medium">
            <a:extLst>
              <a:ext uri="{FF2B5EF4-FFF2-40B4-BE49-F238E27FC236}">
                <a16:creationId xmlns:a16="http://schemas.microsoft.com/office/drawing/2014/main" id="{5512ED86-403B-E118-6EBF-14AFC6A5A2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780" y="3948575"/>
            <a:ext cx="5110144" cy="2616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250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19690-6E39-3EAF-A0B4-7514AF574541}"/>
              </a:ext>
            </a:extLst>
          </p:cNvPr>
          <p:cNvSpPr>
            <a:spLocks noGrp="1"/>
          </p:cNvSpPr>
          <p:nvPr>
            <p:ph type="title"/>
          </p:nvPr>
        </p:nvSpPr>
        <p:spPr>
          <a:xfrm>
            <a:off x="1117309" y="188640"/>
            <a:ext cx="10360501" cy="1223963"/>
          </a:xfrm>
        </p:spPr>
        <p:txBody>
          <a:bodyPr>
            <a:normAutofit/>
          </a:bodyPr>
          <a:lstStyle/>
          <a:p>
            <a:r>
              <a:rPr lang="en-IN" b="1" dirty="0">
                <a:latin typeface="Arial Rounded MT Bold" panose="020F0704030504030204" pitchFamily="34" charset="0"/>
              </a:rPr>
              <a:t>Methodology</a:t>
            </a:r>
          </a:p>
        </p:txBody>
      </p:sp>
      <p:sp>
        <p:nvSpPr>
          <p:cNvPr id="3" name="Content Placeholder 2">
            <a:extLst>
              <a:ext uri="{FF2B5EF4-FFF2-40B4-BE49-F238E27FC236}">
                <a16:creationId xmlns:a16="http://schemas.microsoft.com/office/drawing/2014/main" id="{D0F1D0CE-5B9B-CA75-70D8-7F8D1FC5341A}"/>
              </a:ext>
            </a:extLst>
          </p:cNvPr>
          <p:cNvSpPr>
            <a:spLocks noGrp="1"/>
          </p:cNvSpPr>
          <p:nvPr>
            <p:ph sz="half" idx="1"/>
          </p:nvPr>
        </p:nvSpPr>
        <p:spPr>
          <a:xfrm>
            <a:off x="772741" y="1772816"/>
            <a:ext cx="5078677" cy="4465320"/>
          </a:xfrm>
        </p:spPr>
        <p:txBody>
          <a:bodyPr>
            <a:normAutofit fontScale="92500" lnSpcReduction="10000"/>
          </a:bodyPr>
          <a:lstStyle/>
          <a:p>
            <a:r>
              <a:rPr lang="en-IN" b="1" dirty="0">
                <a:latin typeface="Arial Rounded MT Bold" panose="020F0704030504030204" pitchFamily="34" charset="0"/>
              </a:rPr>
              <a:t>Data ingestion and preprocessing</a:t>
            </a:r>
          </a:p>
          <a:p>
            <a:r>
              <a:rPr lang="en-IN" b="1" dirty="0">
                <a:latin typeface="Arial Rounded MT Bold" panose="020F0704030504030204" pitchFamily="34" charset="0"/>
              </a:rPr>
              <a:t>Model Initialization and Configuration </a:t>
            </a:r>
          </a:p>
          <a:p>
            <a:r>
              <a:rPr lang="en-US" b="1" dirty="0">
                <a:latin typeface="Arial Rounded MT Bold" panose="020F0704030504030204" pitchFamily="34" charset="0"/>
              </a:rPr>
              <a:t>Query Processing and Response Generation </a:t>
            </a:r>
          </a:p>
          <a:p>
            <a:r>
              <a:rPr lang="en-IN" b="1" dirty="0">
                <a:latin typeface="Arial Rounded MT Bold" panose="020F0704030504030204" pitchFamily="34" charset="0"/>
              </a:rPr>
              <a:t>Handling User Interaction </a:t>
            </a:r>
          </a:p>
          <a:p>
            <a:r>
              <a:rPr lang="en-IN" b="1" dirty="0">
                <a:latin typeface="Arial Rounded MT Bold" panose="020F0704030504030204" pitchFamily="34" charset="0"/>
              </a:rPr>
              <a:t>Output Formatting and Presentation </a:t>
            </a:r>
          </a:p>
          <a:p>
            <a:r>
              <a:rPr lang="en-IN" b="1" dirty="0">
                <a:latin typeface="Arial Rounded MT Bold" panose="020F0704030504030204" pitchFamily="34" charset="0"/>
              </a:rPr>
              <a:t>Deployment and Testing </a:t>
            </a:r>
          </a:p>
        </p:txBody>
      </p:sp>
      <p:sp>
        <p:nvSpPr>
          <p:cNvPr id="4" name="Rectangle 2">
            <a:extLst>
              <a:ext uri="{FF2B5EF4-FFF2-40B4-BE49-F238E27FC236}">
                <a16:creationId xmlns:a16="http://schemas.microsoft.com/office/drawing/2014/main" id="{23A28DAE-243D-EED7-213D-618C49EE6A51}"/>
              </a:ext>
            </a:extLst>
          </p:cNvPr>
          <p:cNvSpPr>
            <a:spLocks noChangeArrowheads="1"/>
          </p:cNvSpPr>
          <p:nvPr/>
        </p:nvSpPr>
        <p:spPr bwMode="auto">
          <a:xfrm>
            <a:off x="5851418" y="1462471"/>
            <a:ext cx="212544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6145" name="Picture 1">
            <a:extLst>
              <a:ext uri="{FF2B5EF4-FFF2-40B4-BE49-F238E27FC236}">
                <a16:creationId xmlns:a16="http://schemas.microsoft.com/office/drawing/2014/main" id="{7A313D8E-1DA5-7054-A020-6E3F4E448FD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4372" y="1854069"/>
            <a:ext cx="6199968" cy="3846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563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1CCE6-98B0-E3EB-019E-81D603E61921}"/>
              </a:ext>
            </a:extLst>
          </p:cNvPr>
          <p:cNvSpPr>
            <a:spLocks noGrp="1"/>
          </p:cNvSpPr>
          <p:nvPr>
            <p:ph type="title"/>
          </p:nvPr>
        </p:nvSpPr>
        <p:spPr>
          <a:xfrm>
            <a:off x="871503" y="480063"/>
            <a:ext cx="10242841" cy="648072"/>
          </a:xfrm>
        </p:spPr>
        <p:txBody>
          <a:bodyPr/>
          <a:lstStyle/>
          <a:p>
            <a:r>
              <a:rPr lang="en-IN" b="1" dirty="0"/>
              <a:t>1. </a:t>
            </a:r>
            <a:r>
              <a:rPr lang="en-IN" b="1" dirty="0">
                <a:latin typeface="Arial Rounded MT Bold" panose="020F0704030504030204" pitchFamily="34" charset="0"/>
              </a:rPr>
              <a:t>Data </a:t>
            </a:r>
            <a:r>
              <a:rPr lang="en-AU" b="1" dirty="0">
                <a:latin typeface="Arial Rounded MT Bold" panose="020F0704030504030204" pitchFamily="34" charset="0"/>
              </a:rPr>
              <a:t>Ingestion</a:t>
            </a:r>
            <a:r>
              <a:rPr lang="en-AU" sz="1800" b="1" dirty="0">
                <a:effectLst/>
                <a:latin typeface="Arial Rounded MT Bold" panose="020F0704030504030204" pitchFamily="34" charset="0"/>
                <a:ea typeface="SimSun" panose="02010600030101010101" pitchFamily="2" charset="-122"/>
              </a:rPr>
              <a:t> </a:t>
            </a:r>
            <a:r>
              <a:rPr lang="en-IN" b="1" dirty="0">
                <a:latin typeface="Arial Rounded MT Bold" panose="020F0704030504030204" pitchFamily="34" charset="0"/>
              </a:rPr>
              <a:t> and preprocessing</a:t>
            </a:r>
          </a:p>
        </p:txBody>
      </p:sp>
      <p:sp>
        <p:nvSpPr>
          <p:cNvPr id="3" name="Content Placeholder 2">
            <a:extLst>
              <a:ext uri="{FF2B5EF4-FFF2-40B4-BE49-F238E27FC236}">
                <a16:creationId xmlns:a16="http://schemas.microsoft.com/office/drawing/2014/main" id="{93DB2405-AF84-1CED-6F03-60B2C3B3C6F4}"/>
              </a:ext>
            </a:extLst>
          </p:cNvPr>
          <p:cNvSpPr>
            <a:spLocks noGrp="1"/>
          </p:cNvSpPr>
          <p:nvPr>
            <p:ph sz="half" idx="1"/>
          </p:nvPr>
        </p:nvSpPr>
        <p:spPr>
          <a:xfrm>
            <a:off x="909836" y="1395978"/>
            <a:ext cx="5976664" cy="4981959"/>
          </a:xfrm>
        </p:spPr>
        <p:txBody>
          <a:bodyPr>
            <a:normAutofit lnSpcReduction="10000"/>
          </a:bodyPr>
          <a:lstStyle/>
          <a:p>
            <a:pPr marL="0" indent="0">
              <a:buNone/>
            </a:pPr>
            <a:r>
              <a:rPr lang="en-AU" sz="2400" dirty="0">
                <a:latin typeface="Arial Rounded MT Bold" panose="020F0704030504030204" pitchFamily="34" charset="0"/>
                <a:cs typeface="Arial" panose="020B0604020202020204" pitchFamily="34" charset="0"/>
              </a:rPr>
              <a:t>We start by ingesting medical documents stored in PDF format using the `PyPDFLoader`. These documents are then processed using the `RecursiveCharacterTextSplitter` to split the text into manageable chunks for further analysis. Next, we obtain embeddings for each text chunk using `HuggingFaceEmbeddings`, capturing semantic information about the text. These embeddings are efficiently stored in a vector database such as `FAISS`, enabling fast and effective retrieval during the question-answering </a:t>
            </a:r>
            <a:r>
              <a:rPr lang="en-AU" sz="2000" dirty="0">
                <a:effectLst/>
                <a:latin typeface="Arial Rounded MT Bold" panose="020F0704030504030204" pitchFamily="34" charset="0"/>
                <a:ea typeface="SimSun" panose="02010600030101010101" pitchFamily="2" charset="-122"/>
              </a:rPr>
              <a:t>process.</a:t>
            </a:r>
            <a:endParaRPr lang="en-IN" sz="3200" dirty="0">
              <a:latin typeface="Arial Rounded MT Bold" panose="020F0704030504030204" pitchFamily="34" charset="0"/>
            </a:endParaRPr>
          </a:p>
        </p:txBody>
      </p:sp>
      <p:pic>
        <p:nvPicPr>
          <p:cNvPr id="6" name="Picture 5" descr="A book cover with a colorful image of a cell&#10;&#10;Description automatically generated">
            <a:extLst>
              <a:ext uri="{FF2B5EF4-FFF2-40B4-BE49-F238E27FC236}">
                <a16:creationId xmlns:a16="http://schemas.microsoft.com/office/drawing/2014/main" id="{3FF8A317-E32A-A0B6-DFBD-CA4DA4666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7446" y="1268816"/>
            <a:ext cx="3968251" cy="5092286"/>
          </a:xfrm>
          <a:prstGeom prst="rect">
            <a:avLst/>
          </a:prstGeom>
        </p:spPr>
      </p:pic>
      <p:sp>
        <p:nvSpPr>
          <p:cNvPr id="7" name="Content Placeholder 2">
            <a:extLst>
              <a:ext uri="{FF2B5EF4-FFF2-40B4-BE49-F238E27FC236}">
                <a16:creationId xmlns:a16="http://schemas.microsoft.com/office/drawing/2014/main" id="{9A2842DE-412C-6136-A629-EF717609A640}"/>
              </a:ext>
            </a:extLst>
          </p:cNvPr>
          <p:cNvSpPr txBox="1">
            <a:spLocks/>
          </p:cNvSpPr>
          <p:nvPr/>
        </p:nvSpPr>
        <p:spPr>
          <a:xfrm>
            <a:off x="7750596" y="6377937"/>
            <a:ext cx="4176464" cy="864096"/>
          </a:xfrm>
          <a:prstGeom prst="rect">
            <a:avLst/>
          </a:prstGeom>
        </p:spPr>
        <p:txBody>
          <a:bodyPr vert="horz" lIns="121899" tIns="60949" rIns="121899" bIns="60949" rtlCol="0">
            <a:norm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indent="0">
              <a:buFont typeface="Arial" pitchFamily="34" charset="0"/>
              <a:buNone/>
            </a:pPr>
            <a:r>
              <a:rPr lang="en-AU" sz="1800" dirty="0">
                <a:effectLst/>
                <a:latin typeface="Times New Roman" panose="02020603050405020304" pitchFamily="18" charset="0"/>
                <a:ea typeface="SimSun" panose="02010600030101010101" pitchFamily="2" charset="-122"/>
              </a:rPr>
              <a:t>Dataset -Medicine Encyclopedia </a:t>
            </a:r>
            <a:endParaRPr lang="en-IN" dirty="0"/>
          </a:p>
        </p:txBody>
      </p:sp>
    </p:spTree>
    <p:extLst>
      <p:ext uri="{BB962C8B-B14F-4D97-AF65-F5344CB8AC3E}">
        <p14:creationId xmlns:p14="http://schemas.microsoft.com/office/powerpoint/2010/main" val="1426047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92AB-AC52-B974-DF30-273433CF15F9}"/>
              </a:ext>
            </a:extLst>
          </p:cNvPr>
          <p:cNvSpPr>
            <a:spLocks noGrp="1"/>
          </p:cNvSpPr>
          <p:nvPr>
            <p:ph type="title"/>
          </p:nvPr>
        </p:nvSpPr>
        <p:spPr>
          <a:xfrm>
            <a:off x="914161" y="-315416"/>
            <a:ext cx="10360501" cy="1223963"/>
          </a:xfrm>
        </p:spPr>
        <p:txBody>
          <a:bodyPr anchor="b">
            <a:normAutofit/>
          </a:bodyPr>
          <a:lstStyle/>
          <a:p>
            <a:r>
              <a:rPr lang="en-IN" b="1" dirty="0"/>
              <a:t>2. Model Initialization and Configuration: </a:t>
            </a:r>
          </a:p>
        </p:txBody>
      </p:sp>
      <p:sp>
        <p:nvSpPr>
          <p:cNvPr id="3" name="Content Placeholder 2">
            <a:extLst>
              <a:ext uri="{FF2B5EF4-FFF2-40B4-BE49-F238E27FC236}">
                <a16:creationId xmlns:a16="http://schemas.microsoft.com/office/drawing/2014/main" id="{0006270E-1941-CE69-A084-C08B62BE020B}"/>
              </a:ext>
            </a:extLst>
          </p:cNvPr>
          <p:cNvSpPr>
            <a:spLocks noGrp="1"/>
          </p:cNvSpPr>
          <p:nvPr>
            <p:ph sz="half" idx="2"/>
          </p:nvPr>
        </p:nvSpPr>
        <p:spPr>
          <a:xfrm>
            <a:off x="6373761" y="1052735"/>
            <a:ext cx="5625308" cy="5485697"/>
          </a:xfrm>
        </p:spPr>
        <p:txBody>
          <a:bodyPr>
            <a:normAutofit/>
          </a:bodyPr>
          <a:lstStyle/>
          <a:p>
            <a:pPr marL="0" indent="0">
              <a:buNone/>
            </a:pPr>
            <a:r>
              <a:rPr lang="en-AU" sz="2400" dirty="0">
                <a:latin typeface="Arial Rounded MT Bold" panose="020F0704030504030204" pitchFamily="34" charset="0"/>
              </a:rPr>
              <a:t>We define a custom prompt template tailored for question-answering (QA) retrieval, specifying necessary context and question components. The pre-trained LLAMA-2 model is loaded using `</a:t>
            </a:r>
            <a:r>
              <a:rPr lang="en-AU" sz="2400" dirty="0" err="1">
                <a:latin typeface="Arial Rounded MT Bold" panose="020F0704030504030204" pitchFamily="34" charset="0"/>
                <a:cs typeface="Arial" panose="020B0604020202020204" pitchFamily="34" charset="0"/>
              </a:rPr>
              <a:t>CTransformers</a:t>
            </a:r>
            <a:r>
              <a:rPr lang="en-AU" sz="2400" dirty="0">
                <a:latin typeface="Arial Rounded MT Bold" panose="020F0704030504030204" pitchFamily="34" charset="0"/>
              </a:rPr>
              <a:t>`, facilitating transfer learning and fine-tuning capabilities. Subsequently, we configure the retrieval QA chain using the loaded LLAMA model, custom prompt, and the vector database obtained in the previous step, setting up the foundation for accurate response generation.</a:t>
            </a:r>
            <a:endParaRPr lang="en-IN" sz="2400" dirty="0">
              <a:latin typeface="Arial Rounded MT Bold" panose="020F0704030504030204" pitchFamily="34" charset="0"/>
            </a:endParaRPr>
          </a:p>
        </p:txBody>
      </p:sp>
      <p:pic>
        <p:nvPicPr>
          <p:cNvPr id="5128" name="Picture 8" descr="Meta and Microsoft Introduce the Next Generation of Llama | Meta">
            <a:extLst>
              <a:ext uri="{FF2B5EF4-FFF2-40B4-BE49-F238E27FC236}">
                <a16:creationId xmlns:a16="http://schemas.microsoft.com/office/drawing/2014/main" id="{C75DBD09-E090-C272-F298-96F2CE97A7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6247" y="4204654"/>
            <a:ext cx="4148819" cy="2333779"/>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10" descr="LLaMA 2: Meta's Open Source AI Model">
            <a:extLst>
              <a:ext uri="{FF2B5EF4-FFF2-40B4-BE49-F238E27FC236}">
                <a16:creationId xmlns:a16="http://schemas.microsoft.com/office/drawing/2014/main" id="{419C496E-9176-6C93-0A9A-728FD28F48B0}"/>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136" name="Picture 16" descr="Llama 2, a new intelligent Open Source Language Model">
            <a:extLst>
              <a:ext uri="{FF2B5EF4-FFF2-40B4-BE49-F238E27FC236}">
                <a16:creationId xmlns:a16="http://schemas.microsoft.com/office/drawing/2014/main" id="{F092419B-8D29-0F66-680F-90C42C6C0F8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8939"/>
          <a:stretch/>
        </p:blipFill>
        <p:spPr bwMode="auto">
          <a:xfrm>
            <a:off x="1639367" y="1270407"/>
            <a:ext cx="4148819" cy="2518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23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38D26-0932-5391-5C59-21523485CD73}"/>
              </a:ext>
            </a:extLst>
          </p:cNvPr>
          <p:cNvSpPr>
            <a:spLocks noGrp="1"/>
          </p:cNvSpPr>
          <p:nvPr>
            <p:ph type="title"/>
          </p:nvPr>
        </p:nvSpPr>
        <p:spPr>
          <a:xfrm>
            <a:off x="914161" y="-315416"/>
            <a:ext cx="10360501" cy="1223963"/>
          </a:xfrm>
        </p:spPr>
        <p:txBody>
          <a:bodyPr/>
          <a:lstStyle/>
          <a:p>
            <a:r>
              <a:rPr lang="en-IN" b="1" dirty="0"/>
              <a:t>3.</a:t>
            </a:r>
            <a:r>
              <a:rPr lang="en-US" b="1" dirty="0"/>
              <a:t> Query Processing and Response Generation: </a:t>
            </a:r>
            <a:endParaRPr lang="en-IN" b="1" dirty="0"/>
          </a:p>
        </p:txBody>
      </p:sp>
      <p:sp>
        <p:nvSpPr>
          <p:cNvPr id="3" name="Content Placeholder 2">
            <a:extLst>
              <a:ext uri="{FF2B5EF4-FFF2-40B4-BE49-F238E27FC236}">
                <a16:creationId xmlns:a16="http://schemas.microsoft.com/office/drawing/2014/main" id="{217BD573-2542-A210-7FF7-344D0B0705AC}"/>
              </a:ext>
            </a:extLst>
          </p:cNvPr>
          <p:cNvSpPr>
            <a:spLocks noGrp="1"/>
          </p:cNvSpPr>
          <p:nvPr>
            <p:ph sz="half" idx="1"/>
          </p:nvPr>
        </p:nvSpPr>
        <p:spPr>
          <a:xfrm>
            <a:off x="765820" y="1484784"/>
            <a:ext cx="5200944" cy="4824536"/>
          </a:xfrm>
        </p:spPr>
        <p:txBody>
          <a:bodyPr>
            <a:normAutofit/>
          </a:bodyPr>
          <a:lstStyle/>
          <a:p>
            <a:pPr indent="0">
              <a:buNone/>
            </a:pPr>
            <a:r>
              <a:rPr lang="en-AU" sz="2400" dirty="0">
                <a:latin typeface="Arial Rounded MT Bold" panose="020F0704030504030204" pitchFamily="34" charset="0"/>
                <a:cs typeface="Arial" panose="020B0604020202020204" pitchFamily="34" charset="0"/>
              </a:rPr>
              <a:t>The `</a:t>
            </a:r>
            <a:r>
              <a:rPr lang="en-AU" sz="2400" dirty="0" err="1">
                <a:latin typeface="Arial Rounded MT Bold" panose="020F0704030504030204" pitchFamily="34" charset="0"/>
                <a:cs typeface="Arial" panose="020B0604020202020204" pitchFamily="34" charset="0"/>
              </a:rPr>
              <a:t>qa_bot</a:t>
            </a:r>
            <a:r>
              <a:rPr lang="en-AU" sz="2400" dirty="0">
                <a:latin typeface="Arial Rounded MT Bold" panose="020F0704030504030204" pitchFamily="34" charset="0"/>
                <a:cs typeface="Arial" panose="020B0604020202020204" pitchFamily="34" charset="0"/>
              </a:rPr>
              <a:t>()`function is implemented to orchestrate the question-answering process. This function initializes embeddings, loads the FAISS vector store, configures the LLAMA model, and sets up the retrieval QA chain. Upon receiving a user query, the QA chain retrieves relevant answers based on the provided context and question, ensuring accurate and informative responses.</a:t>
            </a:r>
            <a:endParaRPr lang="en-IN" sz="2400" dirty="0">
              <a:latin typeface="Arial Rounded MT Bold" panose="020F0704030504030204" pitchFamily="34" charset="0"/>
              <a:cs typeface="Arial" panose="020B0604020202020204" pitchFamily="34" charset="0"/>
            </a:endParaRPr>
          </a:p>
          <a:p>
            <a:endParaRPr lang="en-IN" dirty="0"/>
          </a:p>
        </p:txBody>
      </p:sp>
      <p:pic>
        <p:nvPicPr>
          <p:cNvPr id="5" name="Picture 4" descr="A screenshot of a computer&#10;&#10;Description automatically generated">
            <a:extLst>
              <a:ext uri="{FF2B5EF4-FFF2-40B4-BE49-F238E27FC236}">
                <a16:creationId xmlns:a16="http://schemas.microsoft.com/office/drawing/2014/main" id="{D26755C2-B8E3-D535-F40D-AF2F6C6C8D6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624" t="18500" r="17625" b="12201"/>
          <a:stretch/>
        </p:blipFill>
        <p:spPr>
          <a:xfrm>
            <a:off x="6310436" y="1692499"/>
            <a:ext cx="5472608" cy="3473001"/>
          </a:xfrm>
          <a:prstGeom prst="rect">
            <a:avLst/>
          </a:prstGeom>
        </p:spPr>
      </p:pic>
    </p:spTree>
    <p:extLst>
      <p:ext uri="{BB962C8B-B14F-4D97-AF65-F5344CB8AC3E}">
        <p14:creationId xmlns:p14="http://schemas.microsoft.com/office/powerpoint/2010/main" val="1695608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D8C3E-7363-688E-E440-A2332BA636B8}"/>
              </a:ext>
            </a:extLst>
          </p:cNvPr>
          <p:cNvSpPr>
            <a:spLocks noGrp="1"/>
          </p:cNvSpPr>
          <p:nvPr>
            <p:ph type="title"/>
          </p:nvPr>
        </p:nvSpPr>
        <p:spPr>
          <a:xfrm>
            <a:off x="914161" y="-387424"/>
            <a:ext cx="10360501" cy="1223963"/>
          </a:xfrm>
        </p:spPr>
        <p:txBody>
          <a:bodyPr/>
          <a:lstStyle/>
          <a:p>
            <a:r>
              <a:rPr lang="en-IN" b="1" dirty="0"/>
              <a:t>4. Handling User Interaction (5 Steps):</a:t>
            </a:r>
          </a:p>
        </p:txBody>
      </p:sp>
      <p:sp>
        <p:nvSpPr>
          <p:cNvPr id="4" name="TextBox 3">
            <a:extLst>
              <a:ext uri="{FF2B5EF4-FFF2-40B4-BE49-F238E27FC236}">
                <a16:creationId xmlns:a16="http://schemas.microsoft.com/office/drawing/2014/main" id="{6FFBA737-DB61-C177-3372-081F375C768A}"/>
              </a:ext>
            </a:extLst>
          </p:cNvPr>
          <p:cNvSpPr txBox="1"/>
          <p:nvPr/>
        </p:nvSpPr>
        <p:spPr>
          <a:xfrm>
            <a:off x="905947" y="1412776"/>
            <a:ext cx="10729192" cy="6001643"/>
          </a:xfrm>
          <a:prstGeom prst="rect">
            <a:avLst/>
          </a:prstGeom>
          <a:noFill/>
        </p:spPr>
        <p:txBody>
          <a:bodyPr wrap="square">
            <a:spAutoFit/>
          </a:bodyPr>
          <a:lstStyle/>
          <a:p>
            <a:pPr marL="457200" indent="-457200" algn="just">
              <a:buFont typeface="+mj-lt"/>
              <a:buAutoNum type="alphaUcPeriod"/>
            </a:pPr>
            <a:r>
              <a:rPr lang="en-US" sz="1800" dirty="0" err="1">
                <a:effectLst/>
                <a:latin typeface="Arial Rounded MT Bold" panose="020F0704030504030204" pitchFamily="34" charset="0"/>
                <a:ea typeface="SimSun" panose="02010600030101010101" pitchFamily="2" charset="-122"/>
              </a:rPr>
              <a:t>RetrievalQA</a:t>
            </a:r>
            <a:r>
              <a:rPr lang="en-US" sz="1800" dirty="0">
                <a:effectLst/>
                <a:latin typeface="Arial Rounded MT Bold" panose="020F0704030504030204" pitchFamily="34" charset="0"/>
                <a:ea typeface="SimSun" panose="02010600030101010101" pitchFamily="2" charset="-122"/>
              </a:rPr>
              <a:t>: This term likely refers to a system or process related to information retrieval and question answering. It could involve techniques such as natural language processing (NLP) to understand questions and retrieve relevant information from a database or corpus.</a:t>
            </a:r>
          </a:p>
          <a:p>
            <a:pPr marL="457200" indent="-457200" algn="just">
              <a:buAutoNum type="alphaUcPeriod"/>
            </a:pPr>
            <a:r>
              <a:rPr lang="en-US" sz="1800" dirty="0">
                <a:effectLst/>
                <a:latin typeface="Arial Rounded MT Bold" panose="020F0704030504030204" pitchFamily="34" charset="0"/>
                <a:ea typeface="SimSun" panose="02010600030101010101" pitchFamily="2" charset="-122"/>
              </a:rPr>
              <a:t>Retriever: In the context of information retrieval or search systems, a retriever is a component or module responsible for fetching relevant documents or data based on a query or search request. It plays a crucial role in returning accurate and useful results to users.</a:t>
            </a:r>
          </a:p>
          <a:p>
            <a:pPr marL="457200" indent="-457200" algn="just">
              <a:buAutoNum type="alphaUcPeriod"/>
            </a:pPr>
            <a:r>
              <a:rPr lang="en-US" sz="1800" dirty="0" err="1">
                <a:effectLst/>
                <a:latin typeface="Arial Rounded MT Bold" panose="020F0704030504030204" pitchFamily="34" charset="0"/>
                <a:ea typeface="SimSun" panose="02010600030101010101" pitchFamily="2" charset="-122"/>
              </a:rPr>
              <a:t>StuffDocumentsChain</a:t>
            </a:r>
            <a:r>
              <a:rPr lang="en-US" sz="1800" dirty="0">
                <a:effectLst/>
                <a:latin typeface="Arial Rounded MT Bold" panose="020F0704030504030204" pitchFamily="34" charset="0"/>
                <a:ea typeface="SimSun" panose="02010600030101010101" pitchFamily="2" charset="-122"/>
              </a:rPr>
              <a:t>: This term seems to be related to a chain or sequence of documents or data items. It might refer to a linked list or a series of documents processed or handled in a specific order within a document processing or retrieval system.</a:t>
            </a:r>
          </a:p>
          <a:p>
            <a:pPr marL="457200" indent="-457200" algn="just">
              <a:buAutoNum type="alphaUcPeriod"/>
            </a:pPr>
            <a:r>
              <a:rPr lang="en-US" sz="1800" dirty="0" err="1">
                <a:effectLst/>
                <a:latin typeface="Arial Rounded MT Bold" panose="020F0704030504030204" pitchFamily="34" charset="0"/>
                <a:ea typeface="SimSun" panose="02010600030101010101" pitchFamily="2" charset="-122"/>
              </a:rPr>
              <a:t>LLMChain</a:t>
            </a:r>
            <a:r>
              <a:rPr lang="en-US" sz="1800" dirty="0">
                <a:effectLst/>
                <a:latin typeface="Arial Rounded MT Bold" panose="020F0704030504030204" pitchFamily="34" charset="0"/>
                <a:ea typeface="SimSun" panose="02010600030101010101" pitchFamily="2" charset="-122"/>
              </a:rPr>
              <a:t>:"LLM" could stand for Large Language Model, and "Chain" might imply a sequence or series of processes or actions. Therefore, </a:t>
            </a:r>
            <a:r>
              <a:rPr lang="en-US" sz="1800" dirty="0" err="1">
                <a:effectLst/>
                <a:latin typeface="Arial Rounded MT Bold" panose="020F0704030504030204" pitchFamily="34" charset="0"/>
                <a:ea typeface="SimSun" panose="02010600030101010101" pitchFamily="2" charset="-122"/>
              </a:rPr>
              <a:t>LLMChain</a:t>
            </a:r>
            <a:r>
              <a:rPr lang="en-US" sz="1800" dirty="0">
                <a:effectLst/>
                <a:latin typeface="Arial Rounded MT Bold" panose="020F0704030504030204" pitchFamily="34" charset="0"/>
                <a:ea typeface="SimSun" panose="02010600030101010101" pitchFamily="2" charset="-122"/>
              </a:rPr>
              <a:t> could refer to a sequence of operations or tasks performed using a large language model, such as processing text, generating responses, or analyzing language data.</a:t>
            </a:r>
          </a:p>
          <a:p>
            <a:pPr marL="457200" indent="-457200" algn="just">
              <a:buAutoNum type="alphaUcPeriod"/>
            </a:pPr>
            <a:r>
              <a:rPr lang="en-US" sz="1800" dirty="0" err="1">
                <a:effectLst/>
                <a:latin typeface="Arial Rounded MT Bold" panose="020F0704030504030204" pitchFamily="34" charset="0"/>
                <a:ea typeface="SimSun" panose="02010600030101010101" pitchFamily="2" charset="-122"/>
              </a:rPr>
              <a:t>CTransformers:This</a:t>
            </a:r>
            <a:r>
              <a:rPr lang="en-US" sz="1800" dirty="0">
                <a:effectLst/>
                <a:latin typeface="Arial Rounded MT Bold" panose="020F0704030504030204" pitchFamily="34" charset="0"/>
                <a:ea typeface="SimSun" panose="02010600030101010101" pitchFamily="2" charset="-122"/>
              </a:rPr>
              <a:t> term likely refers to models or systems based on transformer architectures, which are widely used in natural language processing tasks. Transformers are known for their effectiveness in tasks like machine translation, text generation, and language understanding</a:t>
            </a:r>
            <a:r>
              <a:rPr lang="en-IN" sz="1800" dirty="0">
                <a:effectLst/>
                <a:latin typeface="Arial Rounded MT Bold" panose="020F0704030504030204" pitchFamily="34" charset="0"/>
                <a:ea typeface="SimSun" panose="02010600030101010101" pitchFamily="2" charset="-122"/>
              </a:rPr>
              <a:t>.</a:t>
            </a:r>
            <a:endParaRPr lang="en-AU" sz="1800" dirty="0">
              <a:effectLst/>
              <a:latin typeface="Arial Rounded MT Bold" panose="020F0704030504030204" pitchFamily="34" charset="0"/>
              <a:ea typeface="SimSun" panose="02010600030101010101" pitchFamily="2" charset="-122"/>
            </a:endParaRPr>
          </a:p>
          <a:p>
            <a:pPr indent="137160" algn="just"/>
            <a:endParaRPr lang="en-AU" sz="2000" dirty="0">
              <a:latin typeface="Times New Roman" panose="02020603050405020304" pitchFamily="18" charset="0"/>
              <a:ea typeface="SimSun" panose="02010600030101010101" pitchFamily="2" charset="-122"/>
            </a:endParaRPr>
          </a:p>
          <a:p>
            <a:pPr indent="137160" algn="just"/>
            <a:endParaRPr lang="en-AU" sz="2000" dirty="0">
              <a:effectLst/>
              <a:latin typeface="Times New Roman" panose="02020603050405020304" pitchFamily="18" charset="0"/>
              <a:ea typeface="SimSun" panose="02010600030101010101" pitchFamily="2" charset="-122"/>
            </a:endParaRPr>
          </a:p>
          <a:p>
            <a:pPr indent="137160" algn="just"/>
            <a:endParaRPr lang="en-IN" sz="20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122586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3DE0-6112-456A-0EFA-E0D33A9D430C}"/>
              </a:ext>
            </a:extLst>
          </p:cNvPr>
          <p:cNvSpPr>
            <a:spLocks noGrp="1"/>
          </p:cNvSpPr>
          <p:nvPr>
            <p:ph type="title"/>
          </p:nvPr>
        </p:nvSpPr>
        <p:spPr>
          <a:xfrm>
            <a:off x="1218883" y="274637"/>
            <a:ext cx="10360501" cy="1223963"/>
          </a:xfrm>
        </p:spPr>
        <p:txBody>
          <a:bodyPr anchor="b">
            <a:normAutofit/>
          </a:bodyPr>
          <a:lstStyle/>
          <a:p>
            <a:r>
              <a:rPr lang="en-IN" b="1" dirty="0"/>
              <a:t>5. Output Formatting and Presentation:</a:t>
            </a:r>
          </a:p>
        </p:txBody>
      </p:sp>
      <p:sp>
        <p:nvSpPr>
          <p:cNvPr id="3" name="Content Placeholder 2">
            <a:extLst>
              <a:ext uri="{FF2B5EF4-FFF2-40B4-BE49-F238E27FC236}">
                <a16:creationId xmlns:a16="http://schemas.microsoft.com/office/drawing/2014/main" id="{3C67C7D9-1E64-D273-7F93-DA8150C181CA}"/>
              </a:ext>
            </a:extLst>
          </p:cNvPr>
          <p:cNvSpPr>
            <a:spLocks noGrp="1"/>
          </p:cNvSpPr>
          <p:nvPr>
            <p:ph sz="half" idx="2"/>
          </p:nvPr>
        </p:nvSpPr>
        <p:spPr>
          <a:xfrm>
            <a:off x="7084255" y="1578024"/>
            <a:ext cx="5078677" cy="4587280"/>
          </a:xfrm>
        </p:spPr>
        <p:txBody>
          <a:bodyPr>
            <a:normAutofit/>
          </a:bodyPr>
          <a:lstStyle/>
          <a:p>
            <a:pPr marL="0" indent="0">
              <a:buNone/>
            </a:pPr>
            <a:endParaRPr lang="en-AU" sz="1800" dirty="0">
              <a:effectLst/>
              <a:latin typeface="Times New Roman" panose="02020603050405020304" pitchFamily="18" charset="0"/>
              <a:ea typeface="SimSun" panose="02010600030101010101" pitchFamily="2" charset="-122"/>
            </a:endParaRPr>
          </a:p>
          <a:p>
            <a:pPr marL="0" indent="0">
              <a:buNone/>
            </a:pPr>
            <a:r>
              <a:rPr lang="en-AU" sz="1800" dirty="0">
                <a:effectLst/>
                <a:latin typeface="Arial Rounded MT Bold" panose="020F0704030504030204" pitchFamily="34" charset="0"/>
                <a:ea typeface="SimSun" panose="02010600030101010101" pitchFamily="2" charset="-122"/>
              </a:rPr>
              <a:t>The final response generated by the chatbot is formatted to include the retrieved answer from the QA chain. Additionally, we may optionally include information about the sources or documents from which the answer was retrieved, providing transparency and credibility to the response.</a:t>
            </a:r>
            <a:endParaRPr lang="en-IN" sz="1800" dirty="0">
              <a:effectLst/>
              <a:latin typeface="Arial Rounded MT Bold" panose="020F0704030504030204" pitchFamily="34" charset="0"/>
              <a:ea typeface="SimSun" panose="02010600030101010101" pitchFamily="2" charset="-122"/>
            </a:endParaRPr>
          </a:p>
          <a:p>
            <a:pPr marL="0" indent="0">
              <a:buNone/>
            </a:pPr>
            <a:r>
              <a:rPr lang="en-IN" sz="1800" dirty="0">
                <a:latin typeface="Arial Rounded MT Bold" panose="020F0704030504030204" pitchFamily="34" charset="0"/>
              </a:rPr>
              <a:t>Prompt 1:</a:t>
            </a:r>
          </a:p>
          <a:p>
            <a:pPr marL="0" indent="0">
              <a:buNone/>
            </a:pPr>
            <a:r>
              <a:rPr lang="en-IN" sz="1800" dirty="0">
                <a:latin typeface="Arial Rounded MT Bold" panose="020F0704030504030204" pitchFamily="34" charset="0"/>
              </a:rPr>
              <a:t>What are the symptoms of diabetes?</a:t>
            </a:r>
          </a:p>
          <a:p>
            <a:pPr marL="0" indent="0">
              <a:buNone/>
            </a:pPr>
            <a:r>
              <a:rPr lang="en-IN" sz="1800" dirty="0">
                <a:latin typeface="Arial Rounded MT Bold" panose="020F0704030504030204" pitchFamily="34" charset="0"/>
              </a:rPr>
              <a:t>Prompt 2:</a:t>
            </a:r>
          </a:p>
          <a:p>
            <a:pPr marL="0" indent="0">
              <a:buNone/>
            </a:pPr>
            <a:r>
              <a:rPr lang="en-IN" sz="1800" dirty="0">
                <a:latin typeface="Arial Rounded MT Bold" panose="020F0704030504030204" pitchFamily="34" charset="0"/>
              </a:rPr>
              <a:t>How is </a:t>
            </a:r>
            <a:r>
              <a:rPr lang="en-AU" sz="1800" dirty="0">
                <a:latin typeface="Arial Rounded MT Bold" panose="020F0704030504030204" pitchFamily="34" charset="0"/>
              </a:rPr>
              <a:t>pneumonia diagnosed and treated?</a:t>
            </a:r>
            <a:endParaRPr lang="en-IN" sz="1800" dirty="0">
              <a:latin typeface="Arial Rounded MT Bold" panose="020F0704030504030204" pitchFamily="34" charset="0"/>
            </a:endParaRPr>
          </a:p>
        </p:txBody>
      </p:sp>
      <p:pic>
        <p:nvPicPr>
          <p:cNvPr id="10" name="Picture 9" descr="A screenshot of a computer&#10;&#10;Description automatically generated">
            <a:extLst>
              <a:ext uri="{FF2B5EF4-FFF2-40B4-BE49-F238E27FC236}">
                <a16:creationId xmlns:a16="http://schemas.microsoft.com/office/drawing/2014/main" id="{8C753397-A1E0-82EB-127B-DFFCF6A54A9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001" t="18501" r="18869" b="50000"/>
          <a:stretch/>
        </p:blipFill>
        <p:spPr>
          <a:xfrm>
            <a:off x="1053853" y="4005064"/>
            <a:ext cx="5895147" cy="1717033"/>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6ECACCE5-8659-9C05-AE21-F99D588242F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624" t="18500" r="18247" b="50000"/>
          <a:stretch/>
        </p:blipFill>
        <p:spPr>
          <a:xfrm>
            <a:off x="1053852" y="1916832"/>
            <a:ext cx="5895148" cy="1717033"/>
          </a:xfrm>
          <a:prstGeom prst="rect">
            <a:avLst/>
          </a:prstGeom>
        </p:spPr>
      </p:pic>
    </p:spTree>
    <p:extLst>
      <p:ext uri="{BB962C8B-B14F-4D97-AF65-F5344CB8AC3E}">
        <p14:creationId xmlns:p14="http://schemas.microsoft.com/office/powerpoint/2010/main" val="387495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FE9E-D4BD-0458-E6E2-2EB678AFB878}"/>
              </a:ext>
            </a:extLst>
          </p:cNvPr>
          <p:cNvSpPr>
            <a:spLocks noGrp="1"/>
          </p:cNvSpPr>
          <p:nvPr>
            <p:ph type="title"/>
          </p:nvPr>
        </p:nvSpPr>
        <p:spPr/>
        <p:txBody>
          <a:bodyPr/>
          <a:lstStyle/>
          <a:p>
            <a:r>
              <a:rPr lang="en-IN" b="1" dirty="0"/>
              <a:t>6. Deployment and Testing:</a:t>
            </a:r>
          </a:p>
        </p:txBody>
      </p:sp>
      <p:sp>
        <p:nvSpPr>
          <p:cNvPr id="3" name="Content Placeholder 2">
            <a:extLst>
              <a:ext uri="{FF2B5EF4-FFF2-40B4-BE49-F238E27FC236}">
                <a16:creationId xmlns:a16="http://schemas.microsoft.com/office/drawing/2014/main" id="{8CBF667D-EC80-1B49-7840-E3A94A909F2E}"/>
              </a:ext>
            </a:extLst>
          </p:cNvPr>
          <p:cNvSpPr>
            <a:spLocks noGrp="1"/>
          </p:cNvSpPr>
          <p:nvPr>
            <p:ph sz="half" idx="1"/>
          </p:nvPr>
        </p:nvSpPr>
        <p:spPr>
          <a:xfrm>
            <a:off x="1218883" y="1706880"/>
            <a:ext cx="10360501" cy="4465320"/>
          </a:xfrm>
        </p:spPr>
        <p:txBody>
          <a:bodyPr>
            <a:normAutofit fontScale="92500" lnSpcReduction="10000"/>
          </a:bodyPr>
          <a:lstStyle/>
          <a:p>
            <a:pPr marL="0" indent="0">
              <a:buNone/>
            </a:pPr>
            <a:r>
              <a:rPr lang="en-AU" dirty="0">
                <a:latin typeface="Arial Rounded MT Bold" panose="020F0704030504030204" pitchFamily="34" charset="0"/>
                <a:cs typeface="Arial" panose="020B0604020202020204" pitchFamily="34" charset="0"/>
              </a:rPr>
              <a:t>The chatbot is deployed in the desired environment for user interaction, ensuring accessibility and usability. Thorough testing is conducted with various medical queries to validate the model's accuracy and effectiveness, addressing any potential issues or shortcomings.</a:t>
            </a:r>
            <a:r>
              <a:rPr lang="en-AU" dirty="0">
                <a:effectLst/>
                <a:latin typeface="Arial Rounded MT Bold" panose="020F0704030504030204" pitchFamily="34" charset="0"/>
                <a:ea typeface="SimSun" panose="02010600030101010101" pitchFamily="2" charset="-122"/>
              </a:rPr>
              <a:t> </a:t>
            </a:r>
            <a:r>
              <a:rPr lang="en-AU" dirty="0">
                <a:latin typeface="Arial Rounded MT Bold" panose="020F0704030504030204" pitchFamily="34" charset="0"/>
                <a:cs typeface="Arial" panose="020B0604020202020204" pitchFamily="34" charset="0"/>
              </a:rPr>
              <a:t>Continuous monitoring of the chatbot's performance is essential, accompanied by gathering user feedback for continuous improvement. Periodic fine-tuning of the model using additional data or retraining techniques enhances its capabilities over time. Additionally, keeping the model up to date with the latest medical knowledge and advancements through regular updates and maintenance ensures its relevance and effectiveness in addressing user queries and concerns</a:t>
            </a:r>
            <a:endParaRPr lang="en-IN"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3156365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2CE8C-6C32-708E-C33D-98890A34E2DF}"/>
              </a:ext>
            </a:extLst>
          </p:cNvPr>
          <p:cNvSpPr>
            <a:spLocks noGrp="1"/>
          </p:cNvSpPr>
          <p:nvPr>
            <p:ph type="title"/>
          </p:nvPr>
        </p:nvSpPr>
        <p:spPr>
          <a:xfrm>
            <a:off x="1125860" y="0"/>
            <a:ext cx="10360501" cy="1223963"/>
          </a:xfrm>
        </p:spPr>
        <p:txBody>
          <a:bodyPr/>
          <a:lstStyle/>
          <a:p>
            <a:r>
              <a:rPr lang="en-IN" b="1" dirty="0"/>
              <a:t>Conclusion</a:t>
            </a:r>
            <a:r>
              <a:rPr lang="en-IN" dirty="0"/>
              <a:t> </a:t>
            </a:r>
          </a:p>
        </p:txBody>
      </p:sp>
      <p:sp>
        <p:nvSpPr>
          <p:cNvPr id="5" name="Content Placeholder 3">
            <a:extLst>
              <a:ext uri="{FF2B5EF4-FFF2-40B4-BE49-F238E27FC236}">
                <a16:creationId xmlns:a16="http://schemas.microsoft.com/office/drawing/2014/main" id="{6B3A5684-285B-F817-0C73-79BCE2BE2DE4}"/>
              </a:ext>
            </a:extLst>
          </p:cNvPr>
          <p:cNvSpPr>
            <a:spLocks noGrp="1"/>
          </p:cNvSpPr>
          <p:nvPr>
            <p:ph sz="half" idx="1"/>
          </p:nvPr>
        </p:nvSpPr>
        <p:spPr>
          <a:xfrm>
            <a:off x="981844" y="1412776"/>
            <a:ext cx="5616624" cy="4465637"/>
          </a:xfrm>
        </p:spPr>
        <p:txBody>
          <a:bodyPr>
            <a:noAutofit/>
          </a:bodyPr>
          <a:lstStyle/>
          <a:p>
            <a:pPr marL="0" indent="0">
              <a:buNone/>
            </a:pPr>
            <a:r>
              <a:rPr lang="en-IN" sz="2600" dirty="0">
                <a:effectLst/>
                <a:latin typeface="Arial Rounded MT Bold" panose="020F0704030504030204" pitchFamily="34" charset="0"/>
                <a:ea typeface="Times New Roman" panose="02020603050405020304" pitchFamily="18" charset="0"/>
                <a:cs typeface="Arial" panose="020B0604020202020204" pitchFamily="34" charset="0"/>
              </a:rPr>
              <a:t>In conclusion, </a:t>
            </a:r>
            <a:r>
              <a:rPr lang="en-US" sz="2600" dirty="0">
                <a:latin typeface="Arial Rounded MT Bold" panose="020F0704030504030204" pitchFamily="34" charset="0"/>
                <a:cs typeface="Arial" panose="020B0604020202020204" pitchFamily="34" charset="0"/>
              </a:rPr>
              <a:t>The developed medical chatbot model holds promise as a valuable tool in healthcare. Its efficient data processing and storage, accurate responses, seamless user interaction, transparency, and credibility contribute to its effectiveness. Real-world deployment, testing, continuous improvement, and user feedback are key for its relevance and impact in improving healthcare outcomes.</a:t>
            </a:r>
            <a:endParaRPr lang="en-IN" sz="2600" dirty="0">
              <a:latin typeface="Arial Rounded MT Bold" panose="020F0704030504030204" pitchFamily="34" charset="0"/>
              <a:cs typeface="Arial" panose="020B0604020202020204" pitchFamily="34" charset="0"/>
            </a:endParaRPr>
          </a:p>
        </p:txBody>
      </p:sp>
      <p:pic>
        <p:nvPicPr>
          <p:cNvPr id="3074" name="Picture 2" descr="Some Medical Chatbot Projects created by Students/Researchers">
            <a:extLst>
              <a:ext uri="{FF2B5EF4-FFF2-40B4-BE49-F238E27FC236}">
                <a16:creationId xmlns:a16="http://schemas.microsoft.com/office/drawing/2014/main" id="{38B8406A-D8F4-7463-C710-576FFFEA7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2484" y="1916832"/>
            <a:ext cx="5150346"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07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37EA-E424-9F74-D666-D86B1F8D194C}"/>
              </a:ext>
            </a:extLst>
          </p:cNvPr>
          <p:cNvSpPr>
            <a:spLocks noGrp="1"/>
          </p:cNvSpPr>
          <p:nvPr>
            <p:ph type="title"/>
          </p:nvPr>
        </p:nvSpPr>
        <p:spPr>
          <a:xfrm>
            <a:off x="1218883" y="274637"/>
            <a:ext cx="10360501" cy="1223963"/>
          </a:xfrm>
        </p:spPr>
        <p:txBody>
          <a:bodyPr anchor="b">
            <a:normAutofit/>
          </a:bodyPr>
          <a:lstStyle/>
          <a:p>
            <a:r>
              <a:rPr lang="en-IN" b="1" dirty="0"/>
              <a:t>Future work</a:t>
            </a:r>
          </a:p>
        </p:txBody>
      </p:sp>
      <p:sp>
        <p:nvSpPr>
          <p:cNvPr id="3" name="Content Placeholder 2">
            <a:extLst>
              <a:ext uri="{FF2B5EF4-FFF2-40B4-BE49-F238E27FC236}">
                <a16:creationId xmlns:a16="http://schemas.microsoft.com/office/drawing/2014/main" id="{1B83046A-61F3-D62A-E333-917A4F7E58CC}"/>
              </a:ext>
            </a:extLst>
          </p:cNvPr>
          <p:cNvSpPr>
            <a:spLocks noGrp="1"/>
          </p:cNvSpPr>
          <p:nvPr>
            <p:ph sz="half" idx="2"/>
          </p:nvPr>
        </p:nvSpPr>
        <p:spPr>
          <a:xfrm>
            <a:off x="5830694" y="548680"/>
            <a:ext cx="6166933" cy="5760639"/>
          </a:xfrm>
        </p:spPr>
        <p:txBody>
          <a:bodyPr>
            <a:normAutofit lnSpcReduction="10000"/>
          </a:bodyPr>
          <a:lstStyle/>
          <a:p>
            <a:r>
              <a:rPr lang="en-US" sz="1800" b="1" dirty="0">
                <a:latin typeface="Arial Rounded MT Bold" panose="020F0704030504030204" pitchFamily="34" charset="0"/>
                <a:ea typeface="SimSun" panose="02010600030101010101" pitchFamily="2" charset="-122"/>
              </a:rPr>
              <a:t>Enhanced Model Performance:  </a:t>
            </a:r>
            <a:r>
              <a:rPr lang="en-US" sz="1800" dirty="0">
                <a:latin typeface="Arial Rounded MT Bold" panose="020F0704030504030204" pitchFamily="34" charset="0"/>
                <a:ea typeface="SimSun" panose="02010600030101010101" pitchFamily="2" charset="-122"/>
              </a:rPr>
              <a:t>Invest in further research and experimentation to improve the performance of the medical chatbot model. This could involve fine-tuning hyperparameters, exploring alternative architectures, or incorporating ensemble learning techniques to boost accuracy and robustness.</a:t>
            </a:r>
            <a:endParaRPr lang="en-IN" sz="1800" b="1" dirty="0">
              <a:latin typeface="Arial Rounded MT Bold" panose="020F0704030504030204" pitchFamily="34" charset="0"/>
              <a:ea typeface="SimSun" panose="02010600030101010101" pitchFamily="2" charset="-122"/>
            </a:endParaRPr>
          </a:p>
          <a:p>
            <a:r>
              <a:rPr lang="en-US" sz="1800" b="1" dirty="0">
                <a:latin typeface="Arial Rounded MT Bold" panose="020F0704030504030204" pitchFamily="34" charset="0"/>
                <a:ea typeface="SimSun" panose="02010600030101010101" pitchFamily="2" charset="-122"/>
              </a:rPr>
              <a:t>Real-Time Interaction: </a:t>
            </a:r>
            <a:r>
              <a:rPr lang="en-US" sz="1800" dirty="0">
                <a:latin typeface="Arial Rounded MT Bold" panose="020F0704030504030204" pitchFamily="34" charset="0"/>
                <a:ea typeface="SimSun" panose="02010600030101010101" pitchFamily="2" charset="-122"/>
              </a:rPr>
              <a:t>Investigate methods for enabling real-time interaction and feedback mechanisms within the chatbot interface. This could include integrating natural language understanding models with real-time data streams to provide immediate responses to user queries or updates on medical conditions.</a:t>
            </a:r>
            <a:endParaRPr lang="en-IN" sz="1800" dirty="0">
              <a:latin typeface="Arial Rounded MT Bold" panose="020F0704030504030204" pitchFamily="34" charset="0"/>
              <a:ea typeface="SimSun" panose="02010600030101010101" pitchFamily="2" charset="-122"/>
            </a:endParaRPr>
          </a:p>
          <a:p>
            <a:r>
              <a:rPr lang="en-US" sz="1800" b="1" dirty="0">
                <a:effectLst/>
                <a:latin typeface="Arial Rounded MT Bold" panose="020F0704030504030204" pitchFamily="34" charset="0"/>
                <a:ea typeface="SimSun" panose="02010600030101010101" pitchFamily="2" charset="-122"/>
              </a:rPr>
              <a:t>Scalability and Deployment:</a:t>
            </a:r>
            <a:r>
              <a:rPr lang="en-US" sz="1800" dirty="0">
                <a:effectLst/>
                <a:latin typeface="Arial Rounded MT Bold" panose="020F0704030504030204" pitchFamily="34" charset="0"/>
                <a:ea typeface="SimSun" panose="02010600030101010101" pitchFamily="2" charset="-122"/>
              </a:rPr>
              <a:t> Develop strategies for scaling the deployment of the medical chatbot across diverse healthcare settings and populations. This could involve optimizing the model architecture for efficient resource utilization, implementing cloud-based solutions for scalability, and partnering with healthcare organizations for widespread adoption and integration into clinical workflows</a:t>
            </a:r>
            <a:endParaRPr lang="en-IN" sz="1800" dirty="0">
              <a:latin typeface="Arial Rounded MT Bold" panose="020F0704030504030204" pitchFamily="34" charset="0"/>
            </a:endParaRPr>
          </a:p>
        </p:txBody>
      </p:sp>
      <p:pic>
        <p:nvPicPr>
          <p:cNvPr id="2050" name="Picture 2" descr="Med-Flamingo”: Medical ChatBot with Multimodal Few-Shot Learning with “LLAMA  2” | by AI TutorMaster | Medium">
            <a:extLst>
              <a:ext uri="{FF2B5EF4-FFF2-40B4-BE49-F238E27FC236}">
                <a16:creationId xmlns:a16="http://schemas.microsoft.com/office/drawing/2014/main" id="{4EC13F92-389E-EFCE-70AC-18C87CF46B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1884" y="1498600"/>
            <a:ext cx="4346234" cy="400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413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348A-5107-FB91-B208-7FD6A88B03CC}"/>
              </a:ext>
            </a:extLst>
          </p:cNvPr>
          <p:cNvSpPr>
            <a:spLocks noGrp="1"/>
          </p:cNvSpPr>
          <p:nvPr>
            <p:ph type="title"/>
          </p:nvPr>
        </p:nvSpPr>
        <p:spPr/>
        <p:txBody>
          <a:bodyPr/>
          <a:lstStyle/>
          <a:p>
            <a:r>
              <a:rPr lang="en-IN" b="1" dirty="0"/>
              <a:t>Applications</a:t>
            </a:r>
          </a:p>
        </p:txBody>
      </p:sp>
      <p:sp>
        <p:nvSpPr>
          <p:cNvPr id="3" name="Content Placeholder 2">
            <a:extLst>
              <a:ext uri="{FF2B5EF4-FFF2-40B4-BE49-F238E27FC236}">
                <a16:creationId xmlns:a16="http://schemas.microsoft.com/office/drawing/2014/main" id="{55CA56B5-2B7A-583C-0B5E-00C19900D179}"/>
              </a:ext>
            </a:extLst>
          </p:cNvPr>
          <p:cNvSpPr>
            <a:spLocks noGrp="1"/>
          </p:cNvSpPr>
          <p:nvPr>
            <p:ph sz="half" idx="1"/>
          </p:nvPr>
        </p:nvSpPr>
        <p:spPr>
          <a:xfrm>
            <a:off x="1125860" y="1655582"/>
            <a:ext cx="5078677" cy="4941168"/>
          </a:xfrm>
        </p:spPr>
        <p:txBody>
          <a:bodyPr>
            <a:normAutofit fontScale="62500" lnSpcReduction="20000"/>
          </a:bodyPr>
          <a:lstStyle/>
          <a:p>
            <a:pPr>
              <a:buFont typeface="+mj-lt"/>
              <a:buAutoNum type="arabicPeriod"/>
            </a:pPr>
            <a:r>
              <a:rPr lang="en-IN" sz="2900" b="1" dirty="0">
                <a:latin typeface="Arial Rounded MT Bold" panose="020F0704030504030204" pitchFamily="34" charset="0"/>
              </a:rPr>
              <a:t>Health Information and Education</a:t>
            </a:r>
            <a:r>
              <a:rPr lang="en-US" b="0" i="0" dirty="0">
                <a:effectLst/>
                <a:latin typeface="Arial Rounded MT Bold" panose="020F0704030504030204" pitchFamily="34" charset="0"/>
              </a:rPr>
              <a:t>: </a:t>
            </a:r>
            <a:r>
              <a:rPr lang="en-US" sz="2900" dirty="0">
                <a:latin typeface="Arial Rounded MT Bold" panose="020F0704030504030204" pitchFamily="34" charset="0"/>
              </a:rPr>
              <a:t>LLM-powered chatbots can provide accurate and up-to-date health information on various topics, such as common illnesses, medications, treatment options, preventive care, and healthy lifestyle practices.</a:t>
            </a:r>
          </a:p>
          <a:p>
            <a:pPr algn="l">
              <a:buFont typeface="+mj-lt"/>
              <a:buAutoNum type="arabicPeriod"/>
            </a:pPr>
            <a:r>
              <a:rPr lang="en-IN" sz="2900" b="1" dirty="0">
                <a:latin typeface="Arial Rounded MT Bold" panose="020F0704030504030204" pitchFamily="34" charset="0"/>
              </a:rPr>
              <a:t>Follow-up and Post-Discharge Support</a:t>
            </a:r>
            <a:r>
              <a:rPr lang="en-US" b="0" i="0" dirty="0">
                <a:effectLst/>
                <a:latin typeface="Arial Rounded MT Bold" panose="020F0704030504030204" pitchFamily="34" charset="0"/>
              </a:rPr>
              <a:t>: </a:t>
            </a:r>
            <a:r>
              <a:rPr lang="en-US" sz="2900" dirty="0">
                <a:latin typeface="Arial Rounded MT Bold" panose="020F0704030504030204" pitchFamily="34" charset="0"/>
              </a:rPr>
              <a:t>After a medical visit or hospital discharge, the chatbot can follow up with patients to monitor their progress.</a:t>
            </a:r>
          </a:p>
          <a:p>
            <a:pPr algn="l">
              <a:buFont typeface="+mj-lt"/>
              <a:buAutoNum type="arabicPeriod"/>
            </a:pPr>
            <a:r>
              <a:rPr lang="en-IN" sz="2900" b="1" dirty="0">
                <a:latin typeface="Arial Rounded MT Bold" panose="020F0704030504030204" pitchFamily="34" charset="0"/>
              </a:rPr>
              <a:t>Mental Health Support</a:t>
            </a:r>
            <a:r>
              <a:rPr lang="en-US" b="0" i="0" dirty="0">
                <a:effectLst/>
                <a:latin typeface="Arial Rounded MT Bold" panose="020F0704030504030204" pitchFamily="34" charset="0"/>
              </a:rPr>
              <a:t>: </a:t>
            </a:r>
            <a:r>
              <a:rPr lang="en-US" sz="2900" dirty="0">
                <a:latin typeface="Arial Rounded MT Bold" panose="020F0704030504030204" pitchFamily="34" charset="0"/>
              </a:rPr>
              <a:t>They can guide users to appropriate mental health services or crisis hotlines if needed and maintain confidentiality and sensitivity in handling sensitive topics.</a:t>
            </a:r>
          </a:p>
          <a:p>
            <a:pPr algn="l">
              <a:buFont typeface="+mj-lt"/>
              <a:buAutoNum type="arabicPeriod"/>
            </a:pPr>
            <a:r>
              <a:rPr lang="en-US" b="1" i="0" dirty="0">
                <a:effectLst/>
                <a:latin typeface="Arial Rounded MT Bold" panose="020F0704030504030204" pitchFamily="34" charset="0"/>
              </a:rPr>
              <a:t>Healthcare Resource Navigation</a:t>
            </a:r>
            <a:r>
              <a:rPr lang="en-US" b="0" i="0" dirty="0">
                <a:effectLst/>
                <a:latin typeface="Arial Rounded MT Bold" panose="020F0704030504030204" pitchFamily="34" charset="0"/>
              </a:rPr>
              <a:t>: T</a:t>
            </a:r>
            <a:r>
              <a:rPr lang="en-US" sz="2900" dirty="0">
                <a:latin typeface="Arial Rounded MT Bold" panose="020F0704030504030204" pitchFamily="34" charset="0"/>
              </a:rPr>
              <a:t>he chatbot can help users navigate healthcare resources and services, such as finding nearby clinics, hospitals, pharmacies, specialists.</a:t>
            </a:r>
            <a:endParaRPr lang="en-IN" sz="2900" dirty="0">
              <a:latin typeface="Arial Rounded MT Bold" panose="020F0704030504030204" pitchFamily="34" charset="0"/>
            </a:endParaRPr>
          </a:p>
        </p:txBody>
      </p:sp>
      <p:pic>
        <p:nvPicPr>
          <p:cNvPr id="1026" name="Picture 2" descr="7 Best Chatbots in Healthcare That Enhance the Patient Experience">
            <a:extLst>
              <a:ext uri="{FF2B5EF4-FFF2-40B4-BE49-F238E27FC236}">
                <a16:creationId xmlns:a16="http://schemas.microsoft.com/office/drawing/2014/main" id="{F4B442C2-24F6-A801-B601-2BF27880EC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706" t="1950" r="18966"/>
          <a:stretch/>
        </p:blipFill>
        <p:spPr bwMode="auto">
          <a:xfrm>
            <a:off x="7102524" y="1496929"/>
            <a:ext cx="4104456" cy="446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08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231</TotalTime>
  <Words>1989</Words>
  <Application>Microsoft Office PowerPoint</Application>
  <PresentationFormat>Custom</PresentationFormat>
  <Paragraphs>85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Rounded MT Bold</vt:lpstr>
      <vt:lpstr>Calibri</vt:lpstr>
      <vt:lpstr>Times New Roman</vt:lpstr>
      <vt:lpstr>Tech 16x9</vt:lpstr>
      <vt:lpstr>Medical chatbot using LLAMA2 Transfer learning chat-med</vt:lpstr>
      <vt:lpstr>PowerPoint Presentation</vt:lpstr>
      <vt:lpstr>PowerPoint Presentation</vt:lpstr>
      <vt:lpstr>PowerPoint Presentation</vt:lpstr>
      <vt:lpstr>PowerPoint Presentation</vt:lpstr>
      <vt:lpstr>PowerPoint Presentation</vt:lpstr>
      <vt:lpstr>LLM AND LANGCHAIN</vt:lpstr>
      <vt:lpstr>HuggingFaceEmbedding and Fiass Vector Score</vt:lpstr>
      <vt:lpstr>Methodology</vt:lpstr>
      <vt:lpstr>1. Data Ingestion  and preprocessing</vt:lpstr>
      <vt:lpstr>2. Model Initialization and Configuration: </vt:lpstr>
      <vt:lpstr>3. Query Processing and Response Generation: </vt:lpstr>
      <vt:lpstr>4. Handling User Interaction (5 Steps):</vt:lpstr>
      <vt:lpstr>5. Output Formatting and Presentation:</vt:lpstr>
      <vt:lpstr>6. Deployment and Testing:</vt:lpstr>
      <vt:lpstr>Conclusion </vt:lpstr>
      <vt:lpstr>Future work</vt:lpstr>
      <vt:lpstr>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 PREDICTION</dc:title>
  <dc:creator>coolhaina666@gmail.com</dc:creator>
  <cp:lastModifiedBy>Siddhant Saini</cp:lastModifiedBy>
  <cp:revision>11</cp:revision>
  <dcterms:created xsi:type="dcterms:W3CDTF">2023-11-19T21:21:04Z</dcterms:created>
  <dcterms:modified xsi:type="dcterms:W3CDTF">2024-09-27T01:32:24Z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